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4040" r:id="rId1"/>
  </p:sldMasterIdLst>
  <p:notesMasterIdLst>
    <p:notesMasterId r:id="rId23"/>
  </p:notesMasterIdLst>
  <p:sldIdLst>
    <p:sldId id="2248" r:id="rId2"/>
    <p:sldId id="7134" r:id="rId3"/>
    <p:sldId id="6903" r:id="rId4"/>
    <p:sldId id="7141" r:id="rId5"/>
    <p:sldId id="7142" r:id="rId6"/>
    <p:sldId id="7140" r:id="rId7"/>
    <p:sldId id="7138" r:id="rId8"/>
    <p:sldId id="7143" r:id="rId9"/>
    <p:sldId id="7146" r:id="rId10"/>
    <p:sldId id="7147" r:id="rId11"/>
    <p:sldId id="7144" r:id="rId12"/>
    <p:sldId id="7137" r:id="rId13"/>
    <p:sldId id="7145" r:id="rId14"/>
    <p:sldId id="7148" r:id="rId15"/>
    <p:sldId id="7149" r:id="rId16"/>
    <p:sldId id="7151" r:id="rId17"/>
    <p:sldId id="7156" r:id="rId18"/>
    <p:sldId id="7155" r:id="rId19"/>
    <p:sldId id="7153" r:id="rId20"/>
    <p:sldId id="7154" r:id="rId21"/>
    <p:sldId id="7157" r:id="rId22"/>
  </p:sldIdLst>
  <p:sldSz cx="9144000" cy="6858000" type="screen4x3"/>
  <p:notesSz cx="7102475" cy="1023302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提纲" id="{61A3C44E-92D6-46EB-A1AC-09F30B6D5135}">
          <p14:sldIdLst>
            <p14:sldId id="2248"/>
            <p14:sldId id="7134"/>
            <p14:sldId id="6903"/>
            <p14:sldId id="7141"/>
            <p14:sldId id="7142"/>
            <p14:sldId id="7140"/>
            <p14:sldId id="7138"/>
            <p14:sldId id="7143"/>
            <p14:sldId id="7146"/>
            <p14:sldId id="7147"/>
            <p14:sldId id="7144"/>
            <p14:sldId id="7137"/>
            <p14:sldId id="7145"/>
            <p14:sldId id="7148"/>
            <p14:sldId id="7149"/>
            <p14:sldId id="7151"/>
            <p14:sldId id="7156"/>
            <p14:sldId id="7155"/>
            <p14:sldId id="7153"/>
            <p14:sldId id="7154"/>
            <p14:sldId id="71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尹 文波" initials="尹" lastIdx="1" clrIdx="0">
    <p:extLst>
      <p:ext uri="{19B8F6BF-5375-455C-9EA6-DF929625EA0E}">
        <p15:presenceInfo xmlns:p15="http://schemas.microsoft.com/office/powerpoint/2012/main" userId="7219ddfe7c57d0a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03" autoAdjust="0"/>
    <p:restoredTop sz="86871" autoAdjust="0"/>
  </p:normalViewPr>
  <p:slideViewPr>
    <p:cSldViewPr>
      <p:cViewPr varScale="1">
        <p:scale>
          <a:sx n="86" d="100"/>
          <a:sy n="86" d="100"/>
        </p:scale>
        <p:origin x="1488" y="5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651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1651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9ED75E01-0EF1-48C2-A225-423E6166D74A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57" tIns="49528" rIns="99057" bIns="49528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248" y="4860687"/>
            <a:ext cx="5681980" cy="4604861"/>
          </a:xfrm>
          <a:prstGeom prst="rect">
            <a:avLst/>
          </a:prstGeom>
        </p:spPr>
        <p:txBody>
          <a:bodyPr vert="horz" lIns="99057" tIns="49528" rIns="99057" bIns="49528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19598"/>
            <a:ext cx="3077739" cy="511651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092" y="9719598"/>
            <a:ext cx="3077739" cy="511651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7027C812-51A0-4146-959B-26F7A04B25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254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6763"/>
            <a:ext cx="5118100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570">
              <a:defRPr/>
            </a:pPr>
            <a:endParaRPr lang="zh-CN" altLang="zh-CN" sz="19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27C812-51A0-4146-959B-26F7A04B258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0065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7C812-51A0-4146-959B-26F7A04B258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4551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</p:grp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525738E0-514B-4B27-865A-11992516E93C}" type="datetime4">
              <a:rPr lang="en-US" altLang="zh-CN" smtClean="0"/>
              <a:t>November 14, 2025</a:t>
            </a:fld>
            <a:endParaRPr lang="zh-CN" altLang="en-US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9DFEEC-E358-4914-BDD4-EE95DB6063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15060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D492D-E599-4F0D-BA78-6EEA0311D34C}" type="datetime4">
              <a:rPr lang="en-US" altLang="zh-CN" smtClean="0"/>
              <a:t>November 14, 2025</a:t>
            </a:fld>
            <a:endParaRPr lang="en-US" altLang="zh-CN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02212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96752"/>
            <a:ext cx="4038600" cy="496855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96752"/>
            <a:ext cx="4038600" cy="496855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7BBE8C-0A4B-43CE-9430-1242DFAA7339}" type="datetime4">
              <a:rPr lang="en-US" altLang="zh-CN" smtClean="0"/>
              <a:t>November 14, 2025</a:t>
            </a:fld>
            <a:endParaRPr lang="en-US" altLang="zh-CN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73408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341A39-4A90-477E-8107-2FD1A1C95399}" type="datetime4">
              <a:rPr lang="en-US" altLang="zh-CN" smtClean="0"/>
              <a:t>November 14, 2025</a:t>
            </a:fld>
            <a:endParaRPr lang="en-US" altLang="zh-CN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85283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22313" y="2624933"/>
            <a:ext cx="7772400" cy="2748283"/>
          </a:xfrm>
        </p:spPr>
        <p:txBody>
          <a:bodyPr anchor="t"/>
          <a:lstStyle>
            <a:lvl1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  <a:tabLst/>
              <a:defRPr sz="2000" b="1" cap="all"/>
            </a:lvl1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单击此处编辑母版文本样式</a:t>
            </a:r>
            <a:b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</a:b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j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628800"/>
            <a:ext cx="7772400" cy="996131"/>
          </a:xfrm>
        </p:spPr>
        <p:txBody>
          <a:bodyPr anchor="b"/>
          <a:lstStyle>
            <a:lvl1pPr marL="0" indent="0" algn="l" rtl="0" eaLnBrk="1" fontAlgn="base" hangingPunct="1">
              <a:spcBef>
                <a:spcPct val="0"/>
              </a:spcBef>
              <a:spcAft>
                <a:spcPct val="0"/>
              </a:spcAft>
              <a:buNone/>
              <a:defRPr lang="zh-CN" altLang="en-US" sz="4000" b="1" cap="all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29EA72-D578-4F57-BEAD-86CF28FC678C}" type="datetime4">
              <a:rPr lang="en-US" altLang="zh-CN" smtClean="0"/>
              <a:t>November 14, 2025</a:t>
            </a:fld>
            <a:endParaRPr lang="en-US" altLang="zh-CN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99076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193800"/>
            <a:ext cx="3765550" cy="4927600"/>
          </a:xfrm>
        </p:spPr>
        <p:txBody>
          <a:bodyPr/>
          <a:lstStyle>
            <a:lvl1pPr marL="182880" indent="-173038">
              <a:spcBef>
                <a:spcPts val="0"/>
              </a:spcBef>
              <a:tabLst/>
              <a:defRPr sz="2000"/>
            </a:lvl1pPr>
            <a:lvl2pPr marL="457200" indent="-228600">
              <a:tabLst/>
              <a:defRPr sz="1800"/>
            </a:lvl2pPr>
            <a:lvl3pPr marL="631825" indent="-174625">
              <a:tabLst/>
              <a:defRPr sz="1600"/>
            </a:lvl3pPr>
            <a:lvl4pPr marL="746125" indent="-114300">
              <a:tabLst/>
              <a:defRPr sz="1400"/>
            </a:lvl4pPr>
            <a:lvl5pPr marL="915988" indent="-169863">
              <a:tabLst/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6450" y="1193800"/>
            <a:ext cx="3765550" cy="4927600"/>
          </a:xfrm>
        </p:spPr>
        <p:txBody>
          <a:bodyPr/>
          <a:lstStyle>
            <a:lvl1pPr marL="173736" indent="-173038">
              <a:spcBef>
                <a:spcPts val="0"/>
              </a:spcBef>
              <a:tabLst/>
              <a:defRPr sz="2000"/>
            </a:lvl1pPr>
            <a:lvl2pPr marL="403225" indent="-230188">
              <a:tabLst/>
              <a:defRPr sz="1800"/>
            </a:lvl2pPr>
            <a:lvl3pPr marL="571500" indent="-168275">
              <a:tabLst/>
              <a:defRPr sz="1600"/>
            </a:lvl3pPr>
            <a:lvl4pPr marL="685800" indent="-114300">
              <a:tabLst/>
              <a:defRPr sz="1400"/>
            </a:lvl4pPr>
            <a:lvl5pPr marL="860425" indent="-174625">
              <a:tabLst/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7607546-6874-DF43-9D9F-828C20612237}" type="slidenum">
              <a:rPr lang="en-US"/>
              <a:pPr>
                <a:defRPr/>
              </a:pPr>
              <a:t>‹#›</a:t>
            </a:fld>
            <a:endParaRPr lang="en-US" b="0">
              <a:solidFill>
                <a:srgbClr val="FBBA0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6058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80010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143000"/>
            <a:ext cx="8458200" cy="4953000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10826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80010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143000"/>
            <a:ext cx="4152900" cy="4953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62500" y="1143000"/>
            <a:ext cx="4152900" cy="4953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6181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27ED-C799-AA4A-BA7C-2FFFBEA25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 AND CONTENT - Click to add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4B9F0-F682-C847-A4A4-C8832F0065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C6C40D-F7AE-5D42-B2A9-60C9F62ADE8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85775" y="1109710"/>
            <a:ext cx="8286750" cy="4910091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288036" indent="-137160">
              <a:buFont typeface="Arial" panose="020B0604020202020204" pitchFamily="34" charset="0"/>
              <a:buChar char="•"/>
              <a:defRPr sz="1500"/>
            </a:lvl2pPr>
            <a:lvl3pPr marL="425196" indent="-137160">
              <a:buFont typeface="Arial" panose="020B0604020202020204" pitchFamily="34" charset="0"/>
              <a:buChar char="•"/>
              <a:defRPr sz="1500"/>
            </a:lvl3pPr>
            <a:lvl4pPr marL="562356" indent="-137160">
              <a:buFont typeface="Arial" panose="020B0604020202020204" pitchFamily="34" charset="0"/>
              <a:buChar char="•"/>
              <a:defRPr sz="1500"/>
            </a:lvl4pPr>
            <a:lvl5pPr marL="699516" indent="-137160">
              <a:buFont typeface="Arial" panose="020B0604020202020204" pitchFamily="34" charset="0"/>
              <a:buChar char="•"/>
              <a:defRPr sz="15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325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27ED-C799-AA4A-BA7C-2FFFBEA25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 AND CONTENT - Click to add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4B9F0-F682-C847-A4A4-C8832F0065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C6C40D-F7AE-5D42-B2A9-60C9F62ADE8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85775" y="1109710"/>
            <a:ext cx="8286750" cy="4910091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288036" indent="-137160">
              <a:buFont typeface="Arial" panose="020B0604020202020204" pitchFamily="34" charset="0"/>
              <a:buChar char="•"/>
              <a:defRPr sz="1500"/>
            </a:lvl2pPr>
            <a:lvl3pPr marL="425196" indent="-137160">
              <a:buFont typeface="Arial" panose="020B0604020202020204" pitchFamily="34" charset="0"/>
              <a:buChar char="•"/>
              <a:defRPr sz="1500"/>
            </a:lvl3pPr>
            <a:lvl4pPr marL="562356" indent="-137160">
              <a:buFont typeface="Arial" panose="020B0604020202020204" pitchFamily="34" charset="0"/>
              <a:buChar char="•"/>
              <a:defRPr sz="1500"/>
            </a:lvl4pPr>
            <a:lvl5pPr marL="699516" indent="-137160">
              <a:buFont typeface="Arial" panose="020B0604020202020204" pitchFamily="34" charset="0"/>
              <a:buChar char="•"/>
              <a:defRPr sz="15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7231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27ED-C799-AA4A-BA7C-2FFFBEA25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 AND CONTENT - Click to add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4B9F0-F682-C847-A4A4-C8832F0065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C6C40D-F7AE-5D42-B2A9-60C9F62ADE8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85775" y="1109710"/>
            <a:ext cx="8286750" cy="4910091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288036" indent="-137160">
              <a:buFont typeface="Arial" panose="020B0604020202020204" pitchFamily="34" charset="0"/>
              <a:buChar char="•"/>
              <a:defRPr sz="1500"/>
            </a:lvl2pPr>
            <a:lvl3pPr marL="425196" indent="-137160">
              <a:buFont typeface="Arial" panose="020B0604020202020204" pitchFamily="34" charset="0"/>
              <a:buChar char="•"/>
              <a:defRPr sz="1500"/>
            </a:lvl3pPr>
            <a:lvl4pPr marL="562356" indent="-137160">
              <a:buFont typeface="Arial" panose="020B0604020202020204" pitchFamily="34" charset="0"/>
              <a:buChar char="•"/>
              <a:defRPr sz="1500"/>
            </a:lvl4pPr>
            <a:lvl5pPr marL="699516" indent="-137160">
              <a:buFont typeface="Arial" panose="020B0604020202020204" pitchFamily="34" charset="0"/>
              <a:buChar char="•"/>
              <a:defRPr sz="15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6678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27ED-C799-AA4A-BA7C-2FFFBEA25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 AND CONTENT - Click to add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4B9F0-F682-C847-A4A4-C8832F0065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C6C40D-F7AE-5D42-B2A9-60C9F62ADE8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85775" y="1109710"/>
            <a:ext cx="8286750" cy="4910091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288036" indent="-137160">
              <a:buFont typeface="Arial" panose="020B0604020202020204" pitchFamily="34" charset="0"/>
              <a:buChar char="•"/>
              <a:defRPr sz="1500"/>
            </a:lvl2pPr>
            <a:lvl3pPr marL="425196" indent="-137160">
              <a:buFont typeface="Arial" panose="020B0604020202020204" pitchFamily="34" charset="0"/>
              <a:buChar char="•"/>
              <a:defRPr sz="1500"/>
            </a:lvl3pPr>
            <a:lvl4pPr marL="562356" indent="-137160">
              <a:buFont typeface="Arial" panose="020B0604020202020204" pitchFamily="34" charset="0"/>
              <a:buChar char="•"/>
              <a:defRPr sz="1500"/>
            </a:lvl4pPr>
            <a:lvl5pPr marL="699516" indent="-137160">
              <a:buFont typeface="Arial" panose="020B0604020202020204" pitchFamily="34" charset="0"/>
              <a:buChar char="•"/>
              <a:defRPr sz="15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08655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27ED-C799-AA4A-BA7C-2FFFBEA25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 AND CONTENT - Click to add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4B9F0-F682-C847-A4A4-C8832F0065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C6C40D-F7AE-5D42-B2A9-60C9F62ADE8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85775" y="1109710"/>
            <a:ext cx="8286750" cy="4910091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288036" indent="-137160">
              <a:buFont typeface="Arial" panose="020B0604020202020204" pitchFamily="34" charset="0"/>
              <a:buChar char="•"/>
              <a:defRPr sz="1500"/>
            </a:lvl2pPr>
            <a:lvl3pPr marL="425196" indent="-137160">
              <a:buFont typeface="Arial" panose="020B0604020202020204" pitchFamily="34" charset="0"/>
              <a:buChar char="•"/>
              <a:defRPr sz="1500"/>
            </a:lvl3pPr>
            <a:lvl4pPr marL="562356" indent="-137160">
              <a:buFont typeface="Arial" panose="020B0604020202020204" pitchFamily="34" charset="0"/>
              <a:buChar char="•"/>
              <a:defRPr sz="1500"/>
            </a:lvl4pPr>
            <a:lvl5pPr marL="699516" indent="-137160">
              <a:buFont typeface="Arial" panose="020B0604020202020204" pitchFamily="34" charset="0"/>
              <a:buChar char="•"/>
              <a:defRPr sz="15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586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27ED-C799-AA4A-BA7C-2FFFBEA25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 AND CONTENT - Click to add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4B9F0-F682-C847-A4A4-C8832F0065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C6C40D-F7AE-5D42-B2A9-60C9F62ADE8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85775" y="1109710"/>
            <a:ext cx="8286750" cy="4910091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288036" indent="-137160">
              <a:buFont typeface="Arial" panose="020B0604020202020204" pitchFamily="34" charset="0"/>
              <a:buChar char="•"/>
              <a:defRPr sz="1500"/>
            </a:lvl2pPr>
            <a:lvl3pPr marL="425196" indent="-137160">
              <a:buFont typeface="Arial" panose="020B0604020202020204" pitchFamily="34" charset="0"/>
              <a:buChar char="•"/>
              <a:defRPr sz="1500"/>
            </a:lvl3pPr>
            <a:lvl4pPr marL="562356" indent="-137160">
              <a:buFont typeface="Arial" panose="020B0604020202020204" pitchFamily="34" charset="0"/>
              <a:buChar char="•"/>
              <a:defRPr sz="1500"/>
            </a:lvl4pPr>
            <a:lvl5pPr marL="699516" indent="-137160">
              <a:buFont typeface="Arial" panose="020B0604020202020204" pitchFamily="34" charset="0"/>
              <a:buChar char="•"/>
              <a:defRPr sz="15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22713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矩形 13"/>
          <p:cNvSpPr/>
          <p:nvPr userDrawn="1"/>
        </p:nvSpPr>
        <p:spPr>
          <a:xfrm flipV="1">
            <a:off x="-103517" y="18931"/>
            <a:ext cx="9193602" cy="7445190"/>
          </a:xfrm>
          <a:prstGeom prst="rect">
            <a:avLst/>
          </a:prstGeom>
          <a:gradFill flip="none" rotWithShape="1">
            <a:gsLst>
              <a:gs pos="100000">
                <a:srgbClr val="EBF2FA">
                  <a:alpha val="50000"/>
                </a:srgbClr>
              </a:gs>
              <a:gs pos="0">
                <a:srgbClr val="F6F8FC"/>
              </a:gs>
            </a:gsLst>
            <a:lin ang="10200000" scaled="0"/>
            <a:tileRect/>
          </a:gradFill>
          <a:ln w="22225">
            <a:gradFill flip="none" rotWithShape="1">
              <a:gsLst>
                <a:gs pos="0">
                  <a:srgbClr val="AEDBFC"/>
                </a:gs>
                <a:gs pos="100000">
                  <a:srgbClr val="044170">
                    <a:alpha val="20000"/>
                  </a:srgbClr>
                </a:gs>
              </a:gsLst>
              <a:lin ang="19200000" scaled="0"/>
              <a:tileRect/>
            </a:gra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grpSp>
        <p:nvGrpSpPr>
          <p:cNvPr id="15" name="组合 14"/>
          <p:cNvGrpSpPr/>
          <p:nvPr userDrawn="1"/>
        </p:nvGrpSpPr>
        <p:grpSpPr>
          <a:xfrm flipV="1">
            <a:off x="1936532" y="6734663"/>
            <a:ext cx="5822835" cy="128556"/>
            <a:chOff x="650211" y="1051965"/>
            <a:chExt cx="7649903" cy="143109"/>
          </a:xfrm>
        </p:grpSpPr>
        <p:grpSp>
          <p:nvGrpSpPr>
            <p:cNvPr id="16" name="组合 15"/>
            <p:cNvGrpSpPr/>
            <p:nvPr userDrawn="1"/>
          </p:nvGrpSpPr>
          <p:grpSpPr>
            <a:xfrm>
              <a:off x="650211" y="1056340"/>
              <a:ext cx="7649903" cy="138734"/>
              <a:chOff x="647363" y="1537487"/>
              <a:chExt cx="7649903" cy="178652"/>
            </a:xfrm>
          </p:grpSpPr>
          <p:sp>
            <p:nvSpPr>
              <p:cNvPr id="20" name="任意多边形: 形状 19"/>
              <p:cNvSpPr/>
              <p:nvPr userDrawn="1"/>
            </p:nvSpPr>
            <p:spPr>
              <a:xfrm>
                <a:off x="647363" y="1537487"/>
                <a:ext cx="3835625" cy="178025"/>
              </a:xfrm>
              <a:custGeom>
                <a:avLst/>
                <a:gdLst>
                  <a:gd name="connsiteX0" fmla="*/ 0 w 3835625"/>
                  <a:gd name="connsiteY0" fmla="*/ 0 h 178025"/>
                  <a:gd name="connsiteX1" fmla="*/ 2112021 w 3835625"/>
                  <a:gd name="connsiteY1" fmla="*/ 0 h 178025"/>
                  <a:gd name="connsiteX2" fmla="*/ 2314322 w 3835625"/>
                  <a:gd name="connsiteY2" fmla="*/ 178025 h 178025"/>
                  <a:gd name="connsiteX3" fmla="*/ 2411426 w 3835625"/>
                  <a:gd name="connsiteY3" fmla="*/ 178025 h 178025"/>
                  <a:gd name="connsiteX4" fmla="*/ 2451887 w 3835625"/>
                  <a:gd name="connsiteY4" fmla="*/ 137564 h 178025"/>
                  <a:gd name="connsiteX5" fmla="*/ 3835625 w 3835625"/>
                  <a:gd name="connsiteY5" fmla="*/ 137564 h 178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35625" h="178025">
                    <a:moveTo>
                      <a:pt x="0" y="0"/>
                    </a:moveTo>
                    <a:lnTo>
                      <a:pt x="2112021" y="0"/>
                    </a:lnTo>
                    <a:lnTo>
                      <a:pt x="2314322" y="178025"/>
                    </a:lnTo>
                    <a:lnTo>
                      <a:pt x="2411426" y="178025"/>
                    </a:lnTo>
                    <a:lnTo>
                      <a:pt x="2451887" y="137564"/>
                    </a:lnTo>
                    <a:lnTo>
                      <a:pt x="3835625" y="137564"/>
                    </a:lnTo>
                  </a:path>
                </a:pathLst>
              </a:custGeom>
              <a:noFill/>
              <a:ln>
                <a:solidFill>
                  <a:srgbClr val="0C67AC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1" name="任意多边形: 形状 20"/>
              <p:cNvSpPr/>
              <p:nvPr userDrawn="1"/>
            </p:nvSpPr>
            <p:spPr>
              <a:xfrm flipH="1">
                <a:off x="4461641" y="1538114"/>
                <a:ext cx="3835625" cy="178025"/>
              </a:xfrm>
              <a:custGeom>
                <a:avLst/>
                <a:gdLst>
                  <a:gd name="connsiteX0" fmla="*/ 0 w 3835625"/>
                  <a:gd name="connsiteY0" fmla="*/ 0 h 178025"/>
                  <a:gd name="connsiteX1" fmla="*/ 2112021 w 3835625"/>
                  <a:gd name="connsiteY1" fmla="*/ 0 h 178025"/>
                  <a:gd name="connsiteX2" fmla="*/ 2314322 w 3835625"/>
                  <a:gd name="connsiteY2" fmla="*/ 178025 h 178025"/>
                  <a:gd name="connsiteX3" fmla="*/ 2411426 w 3835625"/>
                  <a:gd name="connsiteY3" fmla="*/ 178025 h 178025"/>
                  <a:gd name="connsiteX4" fmla="*/ 2451887 w 3835625"/>
                  <a:gd name="connsiteY4" fmla="*/ 137564 h 178025"/>
                  <a:gd name="connsiteX5" fmla="*/ 3835625 w 3835625"/>
                  <a:gd name="connsiteY5" fmla="*/ 137564 h 178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35625" h="178025">
                    <a:moveTo>
                      <a:pt x="0" y="0"/>
                    </a:moveTo>
                    <a:lnTo>
                      <a:pt x="2112021" y="0"/>
                    </a:lnTo>
                    <a:lnTo>
                      <a:pt x="2314322" y="178025"/>
                    </a:lnTo>
                    <a:lnTo>
                      <a:pt x="2411426" y="178025"/>
                    </a:lnTo>
                    <a:lnTo>
                      <a:pt x="2451887" y="137564"/>
                    </a:lnTo>
                    <a:lnTo>
                      <a:pt x="3835625" y="137564"/>
                    </a:lnTo>
                  </a:path>
                </a:pathLst>
              </a:custGeom>
              <a:noFill/>
              <a:ln>
                <a:solidFill>
                  <a:srgbClr val="0C67AC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cxnSp>
          <p:nvCxnSpPr>
            <p:cNvPr id="17" name="直接连接符 16"/>
            <p:cNvCxnSpPr/>
            <p:nvPr userDrawn="1"/>
          </p:nvCxnSpPr>
          <p:spPr>
            <a:xfrm flipV="1">
              <a:off x="2894593" y="1051965"/>
              <a:ext cx="3161138" cy="4376"/>
            </a:xfrm>
            <a:prstGeom prst="line">
              <a:avLst/>
            </a:prstGeom>
            <a:ln w="28575">
              <a:solidFill>
                <a:srgbClr val="0C67A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 userDrawn="1"/>
          </p:nvCxnSpPr>
          <p:spPr>
            <a:xfrm>
              <a:off x="2798023" y="1078849"/>
              <a:ext cx="126247" cy="93227"/>
            </a:xfrm>
            <a:prstGeom prst="line">
              <a:avLst/>
            </a:prstGeom>
            <a:ln w="28575">
              <a:solidFill>
                <a:srgbClr val="0C67A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 userDrawn="1"/>
          </p:nvCxnSpPr>
          <p:spPr>
            <a:xfrm flipV="1">
              <a:off x="6018983" y="1078849"/>
              <a:ext cx="126247" cy="93227"/>
            </a:xfrm>
            <a:prstGeom prst="line">
              <a:avLst/>
            </a:prstGeom>
            <a:ln w="28575">
              <a:solidFill>
                <a:srgbClr val="0C67A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 userDrawn="1"/>
        </p:nvGrpSpPr>
        <p:grpSpPr>
          <a:xfrm flipH="1" flipV="1">
            <a:off x="1660583" y="0"/>
            <a:ext cx="5822835" cy="128556"/>
            <a:chOff x="650211" y="1051965"/>
            <a:chExt cx="7649903" cy="143109"/>
          </a:xfrm>
        </p:grpSpPr>
        <p:grpSp>
          <p:nvGrpSpPr>
            <p:cNvPr id="23" name="组合 22"/>
            <p:cNvGrpSpPr/>
            <p:nvPr userDrawn="1"/>
          </p:nvGrpSpPr>
          <p:grpSpPr>
            <a:xfrm>
              <a:off x="650211" y="1056340"/>
              <a:ext cx="7649903" cy="138734"/>
              <a:chOff x="647363" y="1537487"/>
              <a:chExt cx="7649903" cy="178652"/>
            </a:xfrm>
          </p:grpSpPr>
          <p:sp>
            <p:nvSpPr>
              <p:cNvPr id="27" name="任意多边形: 形状 26"/>
              <p:cNvSpPr/>
              <p:nvPr userDrawn="1"/>
            </p:nvSpPr>
            <p:spPr>
              <a:xfrm>
                <a:off x="647363" y="1537487"/>
                <a:ext cx="3835625" cy="178025"/>
              </a:xfrm>
              <a:custGeom>
                <a:avLst/>
                <a:gdLst>
                  <a:gd name="connsiteX0" fmla="*/ 0 w 3835625"/>
                  <a:gd name="connsiteY0" fmla="*/ 0 h 178025"/>
                  <a:gd name="connsiteX1" fmla="*/ 2112021 w 3835625"/>
                  <a:gd name="connsiteY1" fmla="*/ 0 h 178025"/>
                  <a:gd name="connsiteX2" fmla="*/ 2314322 w 3835625"/>
                  <a:gd name="connsiteY2" fmla="*/ 178025 h 178025"/>
                  <a:gd name="connsiteX3" fmla="*/ 2411426 w 3835625"/>
                  <a:gd name="connsiteY3" fmla="*/ 178025 h 178025"/>
                  <a:gd name="connsiteX4" fmla="*/ 2451887 w 3835625"/>
                  <a:gd name="connsiteY4" fmla="*/ 137564 h 178025"/>
                  <a:gd name="connsiteX5" fmla="*/ 3835625 w 3835625"/>
                  <a:gd name="connsiteY5" fmla="*/ 137564 h 178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35625" h="178025">
                    <a:moveTo>
                      <a:pt x="0" y="0"/>
                    </a:moveTo>
                    <a:lnTo>
                      <a:pt x="2112021" y="0"/>
                    </a:lnTo>
                    <a:lnTo>
                      <a:pt x="2314322" y="178025"/>
                    </a:lnTo>
                    <a:lnTo>
                      <a:pt x="2411426" y="178025"/>
                    </a:lnTo>
                    <a:lnTo>
                      <a:pt x="2451887" y="137564"/>
                    </a:lnTo>
                    <a:lnTo>
                      <a:pt x="3835625" y="137564"/>
                    </a:lnTo>
                  </a:path>
                </a:pathLst>
              </a:custGeom>
              <a:noFill/>
              <a:ln>
                <a:solidFill>
                  <a:srgbClr val="0C67AC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8" name="任意多边形: 形状 27"/>
              <p:cNvSpPr/>
              <p:nvPr userDrawn="1"/>
            </p:nvSpPr>
            <p:spPr>
              <a:xfrm flipH="1">
                <a:off x="4461641" y="1538114"/>
                <a:ext cx="3835625" cy="178025"/>
              </a:xfrm>
              <a:custGeom>
                <a:avLst/>
                <a:gdLst>
                  <a:gd name="connsiteX0" fmla="*/ 0 w 3835625"/>
                  <a:gd name="connsiteY0" fmla="*/ 0 h 178025"/>
                  <a:gd name="connsiteX1" fmla="*/ 2112021 w 3835625"/>
                  <a:gd name="connsiteY1" fmla="*/ 0 h 178025"/>
                  <a:gd name="connsiteX2" fmla="*/ 2314322 w 3835625"/>
                  <a:gd name="connsiteY2" fmla="*/ 178025 h 178025"/>
                  <a:gd name="connsiteX3" fmla="*/ 2411426 w 3835625"/>
                  <a:gd name="connsiteY3" fmla="*/ 178025 h 178025"/>
                  <a:gd name="connsiteX4" fmla="*/ 2451887 w 3835625"/>
                  <a:gd name="connsiteY4" fmla="*/ 137564 h 178025"/>
                  <a:gd name="connsiteX5" fmla="*/ 3835625 w 3835625"/>
                  <a:gd name="connsiteY5" fmla="*/ 137564 h 178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35625" h="178025">
                    <a:moveTo>
                      <a:pt x="0" y="0"/>
                    </a:moveTo>
                    <a:lnTo>
                      <a:pt x="2112021" y="0"/>
                    </a:lnTo>
                    <a:lnTo>
                      <a:pt x="2314322" y="178025"/>
                    </a:lnTo>
                    <a:lnTo>
                      <a:pt x="2411426" y="178025"/>
                    </a:lnTo>
                    <a:lnTo>
                      <a:pt x="2451887" y="137564"/>
                    </a:lnTo>
                    <a:lnTo>
                      <a:pt x="3835625" y="137564"/>
                    </a:lnTo>
                  </a:path>
                </a:pathLst>
              </a:custGeom>
              <a:noFill/>
              <a:ln>
                <a:solidFill>
                  <a:srgbClr val="0C67AC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cxnSp>
          <p:nvCxnSpPr>
            <p:cNvPr id="24" name="直接连接符 23"/>
            <p:cNvCxnSpPr/>
            <p:nvPr userDrawn="1"/>
          </p:nvCxnSpPr>
          <p:spPr>
            <a:xfrm flipV="1">
              <a:off x="2894593" y="1051965"/>
              <a:ext cx="3161138" cy="4376"/>
            </a:xfrm>
            <a:prstGeom prst="line">
              <a:avLst/>
            </a:prstGeom>
            <a:ln w="28575">
              <a:solidFill>
                <a:srgbClr val="0C67A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 userDrawn="1"/>
          </p:nvCxnSpPr>
          <p:spPr>
            <a:xfrm>
              <a:off x="2798023" y="1078849"/>
              <a:ext cx="126247" cy="93227"/>
            </a:xfrm>
            <a:prstGeom prst="line">
              <a:avLst/>
            </a:prstGeom>
            <a:ln w="28575">
              <a:solidFill>
                <a:srgbClr val="0C67A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 userDrawn="1"/>
          </p:nvCxnSpPr>
          <p:spPr>
            <a:xfrm flipV="1">
              <a:off x="6018983" y="1078849"/>
              <a:ext cx="126247" cy="93227"/>
            </a:xfrm>
            <a:prstGeom prst="line">
              <a:avLst/>
            </a:prstGeom>
            <a:ln w="28575">
              <a:solidFill>
                <a:srgbClr val="0C67A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777201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3CA1-B04C-4C04-8D1E-77CF30B3E24E}" type="datetime1">
              <a:rPr lang="en-US" altLang="zh-CN" smtClean="0"/>
              <a:t>11/14/2025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A59F9-3CCC-4B0B-855C-A44C06AE2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077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7152"/>
            <a:ext cx="8233646" cy="4268337"/>
          </a:xfrm>
          <a:prstGeom prst="rect">
            <a:avLst/>
          </a:prstGeom>
        </p:spPr>
        <p:txBody>
          <a:bodyPr/>
          <a:lstStyle>
            <a:lvl1pPr marL="290513" indent="-290513" algn="l" rtl="0" eaLnBrk="0" fontAlgn="base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8000"/>
              <a:buFont typeface="Wingdings" pitchFamily="2" charset="2"/>
              <a:buBlip>
                <a:blip r:embed="rId2"/>
              </a:buBlip>
              <a:defRPr lang="en-US" sz="2200" b="0" dirty="0" smtClean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63550" indent="-174625">
              <a:lnSpc>
                <a:spcPct val="110000"/>
              </a:lnSpc>
              <a:defRPr sz="1600"/>
            </a:lvl2pPr>
            <a:lvl3pPr marL="682625" indent="-173038">
              <a:lnSpc>
                <a:spcPct val="110000"/>
              </a:lnSpc>
              <a:defRPr sz="1400"/>
            </a:lvl3pPr>
            <a:lvl4pPr marL="914400" indent="-173038">
              <a:lnSpc>
                <a:spcPct val="110000"/>
              </a:lnSpc>
              <a:buFont typeface="Arial" pitchFamily="34" charset="0"/>
              <a:buChar char="–"/>
              <a:defRPr sz="1400"/>
            </a:lvl4pPr>
            <a:lvl5pPr marL="1319213" indent="-347663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9551"/>
            <a:ext cx="8229600" cy="530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4"/>
            <a:ext cx="2058055" cy="2809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Embedded System Design Review 11-</a:t>
            </a:r>
            <a:fld id="{060BD193-E118-4B16-863C-C8C12C675E3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16"/>
          <p:cNvSpPr>
            <a:spLocks noGrp="1"/>
          </p:cNvSpPr>
          <p:nvPr>
            <p:ph type="ftr" sz="quarter" idx="3"/>
          </p:nvPr>
        </p:nvSpPr>
        <p:spPr>
          <a:xfrm>
            <a:off x="3124200" y="6579165"/>
            <a:ext cx="2895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Copyright 2017 Xilinx</a:t>
            </a:r>
          </a:p>
        </p:txBody>
      </p:sp>
    </p:spTree>
    <p:extLst>
      <p:ext uri="{BB962C8B-B14F-4D97-AF65-F5344CB8AC3E}">
        <p14:creationId xmlns:p14="http://schemas.microsoft.com/office/powerpoint/2010/main" val="3292730090"/>
      </p:ext>
    </p:extLst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974EF1F-28E2-46E1-8A56-BBE447A6674C}"/>
              </a:ext>
            </a:extLst>
          </p:cNvPr>
          <p:cNvCxnSpPr>
            <a:cxnSpLocks/>
          </p:cNvCxnSpPr>
          <p:nvPr userDrawn="1"/>
        </p:nvCxnSpPr>
        <p:spPr>
          <a:xfrm>
            <a:off x="389107" y="943580"/>
            <a:ext cx="8389133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lin ang="10800000" scaled="1"/>
              <a:tileRect/>
            </a:gra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FF71D51F-85E7-49A7-95BA-ECE1AA577879}"/>
              </a:ext>
            </a:extLst>
          </p:cNvPr>
          <p:cNvGrpSpPr/>
          <p:nvPr userDrawn="1"/>
        </p:nvGrpSpPr>
        <p:grpSpPr>
          <a:xfrm rot="5400000">
            <a:off x="351949" y="29528"/>
            <a:ext cx="304800" cy="245745"/>
            <a:chOff x="0" y="440055"/>
            <a:chExt cx="407670" cy="409074"/>
          </a:xfrm>
        </p:grpSpPr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27A56ED9-A904-42F8-BD04-2131FE81539A}"/>
                </a:ext>
              </a:extLst>
            </p:cNvPr>
            <p:cNvSpPr/>
            <p:nvPr/>
          </p:nvSpPr>
          <p:spPr>
            <a:xfrm>
              <a:off x="45720" y="440055"/>
              <a:ext cx="361950" cy="409074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149ABB15-E739-44FB-85B9-90545F8DF67E}"/>
                </a:ext>
              </a:extLst>
            </p:cNvPr>
            <p:cNvSpPr/>
            <p:nvPr/>
          </p:nvSpPr>
          <p:spPr>
            <a:xfrm>
              <a:off x="0" y="440055"/>
              <a:ext cx="321945" cy="409074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61" name="标题 1">
            <a:extLst>
              <a:ext uri="{FF2B5EF4-FFF2-40B4-BE49-F238E27FC236}">
                <a16:creationId xmlns:a16="http://schemas.microsoft.com/office/drawing/2014/main" id="{1D0C0689-3F81-4B61-81A0-5E95ED7FF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107" y="365126"/>
            <a:ext cx="7170798" cy="578454"/>
          </a:xfrm>
        </p:spPr>
        <p:txBody>
          <a:bodyPr lIns="0" rIns="0">
            <a:normAutofit/>
          </a:bodyPr>
          <a:lstStyle>
            <a:lvl1pPr>
              <a:lnSpc>
                <a:spcPct val="100000"/>
              </a:lnSpc>
              <a:defRPr sz="195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62" name="灯片编号占位符 5">
            <a:extLst>
              <a:ext uri="{FF2B5EF4-FFF2-40B4-BE49-F238E27FC236}">
                <a16:creationId xmlns:a16="http://schemas.microsoft.com/office/drawing/2014/main" id="{89CC42FF-8C6D-478B-94CF-16C20DB993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23653" y="6356351"/>
            <a:ext cx="29669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>
              <a:defRPr/>
            </a:pPr>
            <a:fld id="{A48020E0-1C4F-4D89-9FD1-EC2E5B71218B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 defTabSz="685800">
                <a:defRPr/>
              </a:pPr>
              <a:t>‹#›</a:t>
            </a:fld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8EB2A82-A755-46F1-97B8-45AB2D5226DC}"/>
              </a:ext>
            </a:extLst>
          </p:cNvPr>
          <p:cNvCxnSpPr/>
          <p:nvPr userDrawn="1"/>
        </p:nvCxnSpPr>
        <p:spPr>
          <a:xfrm flipH="1">
            <a:off x="4354385" y="6538913"/>
            <a:ext cx="7221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D8F62463-3B27-4EFC-ABCE-4D02F165A9B3}"/>
              </a:ext>
            </a:extLst>
          </p:cNvPr>
          <p:cNvCxnSpPr/>
          <p:nvPr userDrawn="1"/>
        </p:nvCxnSpPr>
        <p:spPr>
          <a:xfrm flipH="1">
            <a:off x="4717403" y="6538913"/>
            <a:ext cx="7221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145" r="100000">
                        <a14:foregroundMark x1="47757" y1="38095" x2="47757" y2="38095"/>
                        <a14:foregroundMark x1="49059" y1="53968" x2="49059" y2="53968"/>
                        <a14:foregroundMark x1="63386" y1="57143" x2="63386" y2="57143"/>
                        <a14:foregroundMark x1="63386" y1="67460" x2="63386" y2="67460"/>
                        <a14:foregroundMark x1="76411" y1="56746" x2="76411" y2="56746"/>
                        <a14:foregroundMark x1="78871" y1="50397" x2="78871" y2="50397"/>
                        <a14:foregroundMark x1="94211" y1="44841" x2="94211" y2="44841"/>
                        <a14:foregroundMark x1="90593" y1="41270" x2="90593" y2="41270"/>
                        <a14:foregroundMark x1="88423" y1="57937" x2="88423" y2="57937"/>
                        <a14:foregroundMark x1="92764" y1="70635" x2="92764" y2="7063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80948" y="240707"/>
            <a:ext cx="1397292" cy="679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4946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600201"/>
            <a:ext cx="8233647" cy="4268337"/>
          </a:xfrm>
        </p:spPr>
        <p:txBody>
          <a:bodyPr/>
          <a:lstStyle>
            <a:lvl1pPr marL="228600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8000"/>
              <a:buFont typeface="Wingdings" pitchFamily="2" charset="2"/>
              <a:buBlip>
                <a:blip r:embed="rId2"/>
              </a:buBlip>
              <a:defRPr lang="en-US" sz="2000" b="1" dirty="0" smtClean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IE"/>
              <a:t>Click to edit Master text styles</a:t>
            </a:r>
          </a:p>
          <a:p>
            <a:pPr lvl="0"/>
            <a:r>
              <a:rPr lang="en-IE"/>
              <a:t>Second level</a:t>
            </a:r>
          </a:p>
          <a:p>
            <a:pPr lvl="0"/>
            <a:r>
              <a:rPr lang="en-IE"/>
              <a:t>Third level</a:t>
            </a:r>
          </a:p>
          <a:p>
            <a:pPr lvl="0"/>
            <a:r>
              <a:rPr lang="en-IE"/>
              <a:t>Fourth level</a:t>
            </a:r>
          </a:p>
          <a:p>
            <a:pPr lvl="0"/>
            <a:r>
              <a:rPr lang="en-IE"/>
              <a:t>Fifth level</a:t>
            </a:r>
            <a:endParaRPr lang="en-US" dirty="0"/>
          </a:p>
        </p:txBody>
      </p:sp>
      <p:sp>
        <p:nvSpPr>
          <p:cNvPr id="4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4"/>
            <a:ext cx="1134537" cy="2809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 err="1"/>
              <a:t>SDSoC</a:t>
            </a:r>
            <a:r>
              <a:rPr lang="en-US" dirty="0"/>
              <a:t> Overview 12-</a:t>
            </a:r>
            <a:fld id="{BFCA2A5C-65D0-4F71-B4D8-734FF63F7E2F}" type="slidenum">
              <a:rPr smtClean="0"/>
              <a:pPr>
                <a:defRPr/>
              </a:pPr>
              <a:t>‹#›</a:t>
            </a:fld>
            <a:endParaRPr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09550"/>
            <a:ext cx="8229600" cy="1143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98000"/>
              </a:lnSpc>
              <a:defRPr lang="en-US" sz="2800" b="1" dirty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rtl="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lang="en-IE"/>
              <a:t>Click to edit Master title style</a:t>
            </a:r>
            <a:endParaRPr lang="en-US" dirty="0"/>
          </a:p>
        </p:txBody>
      </p:sp>
      <p:sp>
        <p:nvSpPr>
          <p:cNvPr id="6" name="Footer Placeholder 16"/>
          <p:cNvSpPr>
            <a:spLocks noGrp="1"/>
          </p:cNvSpPr>
          <p:nvPr>
            <p:ph type="ftr" sz="quarter" idx="3"/>
          </p:nvPr>
        </p:nvSpPr>
        <p:spPr>
          <a:xfrm>
            <a:off x="3124200" y="6579165"/>
            <a:ext cx="2895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Copyright 2015 Xilinx</a:t>
            </a:r>
          </a:p>
        </p:txBody>
      </p:sp>
    </p:spTree>
    <p:extLst>
      <p:ext uri="{BB962C8B-B14F-4D97-AF65-F5344CB8AC3E}">
        <p14:creationId xmlns:p14="http://schemas.microsoft.com/office/powerpoint/2010/main" val="2621361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B2B2FF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  <a:ea typeface="宋体" pitchFamily="2" charset="-122"/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205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800">
                <a:solidFill>
                  <a:schemeClr val="hlink"/>
                </a:solidFill>
                <a:ea typeface="宋体" pitchFamily="2" charset="-122"/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800">
                <a:solidFill>
                  <a:schemeClr val="hlink"/>
                </a:solidFill>
                <a:ea typeface="宋体" pitchFamily="2" charset="-122"/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800">
                <a:solidFill>
                  <a:schemeClr val="accent2"/>
                </a:solidFill>
                <a:ea typeface="宋体" pitchFamily="2" charset="-122"/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800">
                <a:solidFill>
                  <a:schemeClr val="hlink"/>
                </a:solidFill>
                <a:ea typeface="宋体" pitchFamily="2" charset="-122"/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800">
                <a:solidFill>
                  <a:schemeClr val="accent2"/>
                </a:solidFill>
                <a:ea typeface="宋体" pitchFamily="2" charset="-122"/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800">
                <a:solidFill>
                  <a:schemeClr val="accent2"/>
                </a:solidFill>
                <a:ea typeface="宋体" pitchFamily="2" charset="-122"/>
              </a:endParaRPr>
            </a:p>
          </p:txBody>
        </p:sp>
      </p:grpSp>
      <p:sp>
        <p:nvSpPr>
          <p:cNvPr id="2053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606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4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96752"/>
            <a:ext cx="8229600" cy="496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5396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D6C2F118-23C6-4D76-A422-251B03B97126}" type="datetime4">
              <a:rPr lang="en-US" altLang="zh-CN" smtClean="0"/>
              <a:t>November 14, 2025</a:t>
            </a:fld>
            <a:endParaRPr lang="en-US" altLang="zh-CN"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1" r:id="rId1"/>
    <p:sldLayoutId id="2147484042" r:id="rId2"/>
    <p:sldLayoutId id="2147484044" r:id="rId3"/>
    <p:sldLayoutId id="2147484046" r:id="rId4"/>
    <p:sldLayoutId id="2147484043" r:id="rId5"/>
    <p:sldLayoutId id="2147484048" r:id="rId6"/>
    <p:sldLayoutId id="2147484054" r:id="rId7"/>
    <p:sldLayoutId id="2147484055" r:id="rId8"/>
    <p:sldLayoutId id="2147484057" r:id="rId9"/>
    <p:sldLayoutId id="2147484058" r:id="rId10"/>
    <p:sldLayoutId id="2147484059" r:id="rId11"/>
    <p:sldLayoutId id="2147484060" r:id="rId12"/>
    <p:sldLayoutId id="2147484061" r:id="rId13"/>
    <p:sldLayoutId id="2147484062" r:id="rId14"/>
    <p:sldLayoutId id="2147484063" r:id="rId15"/>
    <p:sldLayoutId id="2147484064" r:id="rId16"/>
    <p:sldLayoutId id="2147484065" r:id="rId17"/>
    <p:sldLayoutId id="2147484067" r:id="rId18"/>
    <p:sldLayoutId id="2147484068" r:id="rId19"/>
  </p:sldLayoutIdLst>
  <p:transition/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000" b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1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1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2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eforewind/asic_labs/lab1" TargetMode="External"/><Relationship Id="rId2" Type="http://schemas.openxmlformats.org/officeDocument/2006/relationships/hyperlink" Target="https://github.com/beforewind/asic_labs/tree/main/lab1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icampus.fudan.edu.cn/wwwfw/list.htm" TargetMode="External"/><Relationship Id="rId7" Type="http://schemas.openxmlformats.org/officeDocument/2006/relationships/hyperlink" Target="https://blog.csdn.net/sunshine_atk/article/details/144216065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zhuanlan.zhihu.com/p/12227844718" TargetMode="External"/><Relationship Id="rId5" Type="http://schemas.openxmlformats.org/officeDocument/2006/relationships/hyperlink" Target="https://cloud.fudan.edu.cn/#routeview/s/3eNDe72W" TargetMode="External"/><Relationship Id="rId4" Type="http://schemas.openxmlformats.org/officeDocument/2006/relationships/hyperlink" Target="https://cloud.fudan.edu.cn/#routeview/appdownload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2971800" y="1828800"/>
            <a:ext cx="6019800" cy="2209800"/>
          </a:xfrm>
        </p:spPr>
        <p:txBody>
          <a:bodyPr/>
          <a:lstStyle/>
          <a:p>
            <a:r>
              <a:rPr lang="zh-CN" altLang="en-US" sz="3600" dirty="0">
                <a:solidFill>
                  <a:schemeClr val="bg1"/>
                </a:solidFill>
              </a:rPr>
              <a:t>实验</a:t>
            </a:r>
            <a:r>
              <a:rPr lang="en-US" altLang="zh-CN" sz="3600" dirty="0">
                <a:solidFill>
                  <a:schemeClr val="bg1"/>
                </a:solidFill>
              </a:rPr>
              <a:t>-</a:t>
            </a:r>
            <a:r>
              <a:rPr lang="zh-CN" altLang="en-US" sz="3600" dirty="0">
                <a:solidFill>
                  <a:schemeClr val="bg1"/>
                </a:solidFill>
              </a:rPr>
              <a:t>使用</a:t>
            </a:r>
            <a:r>
              <a:rPr lang="en-US" altLang="zh-CN" sz="3600" dirty="0" err="1">
                <a:solidFill>
                  <a:schemeClr val="bg1"/>
                </a:solidFill>
              </a:rPr>
              <a:t>vivado</a:t>
            </a:r>
            <a:r>
              <a:rPr lang="zh-CN" altLang="en-US" sz="3600" dirty="0">
                <a:solidFill>
                  <a:schemeClr val="bg1"/>
                </a:solidFill>
              </a:rPr>
              <a:t>综合与仿真</a:t>
            </a:r>
            <a:endParaRPr lang="zh-CN" altLang="en-US" sz="36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4294967295"/>
          </p:nvPr>
        </p:nvSpPr>
        <p:spPr>
          <a:xfrm>
            <a:off x="2971800" y="4267200"/>
            <a:ext cx="6019800" cy="1752600"/>
          </a:xfr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  <a:tabLst/>
              <a:defRPr/>
            </a:pPr>
            <a:fld id="{C72C8A34-36C0-4CD0-B61C-9E44AB5AF9D0}" type="datetime2">
              <a: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7D"/>
                </a:buClr>
                <a:buSzPct val="75000"/>
                <a:buFont typeface="Wingdings" pitchFamily="2" charset="2"/>
                <a:buChar char="n"/>
                <a:tabLst/>
                <a:defRPr/>
              </a:pPr>
              <a:t>2025年11月14日</a:t>
            </a:fld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4285389925"/>
      </p:ext>
    </p:extLst>
  </p:cSld>
  <p:clrMapOvr>
    <a:masterClrMapping/>
  </p:clrMapOvr>
  <p:transition advTm="1587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F4EA1B-EEE0-82B9-BFF3-E5B0D4BE6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8-</a:t>
            </a:r>
            <a:r>
              <a:rPr lang="zh-CN" altLang="en-US" dirty="0"/>
              <a:t>使用</a:t>
            </a:r>
            <a:r>
              <a:rPr lang="en-US" altLang="zh-CN" dirty="0" err="1"/>
              <a:t>vivado</a:t>
            </a:r>
            <a:r>
              <a:rPr lang="zh-CN" altLang="en-US" dirty="0"/>
              <a:t>综合与仿真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2495FB-156D-BBDE-B78F-8E57C62BF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实验材料：</a:t>
            </a:r>
            <a:r>
              <a:rPr lang="en-US" altLang="zh-CN" dirty="0">
                <a:hlinkClick r:id="rId2"/>
              </a:rPr>
              <a:t>https://github.com/beforewind/asic_labs/tree/main/lab1</a:t>
            </a:r>
            <a:endParaRPr lang="en-US" altLang="zh-CN" dirty="0"/>
          </a:p>
          <a:p>
            <a:r>
              <a:rPr lang="zh-CN" altLang="en-US" dirty="0"/>
              <a:t>实验文档：</a:t>
            </a:r>
            <a:r>
              <a:rPr lang="en-US" altLang="zh-CN" dirty="0">
                <a:hlinkClick r:id="rId3"/>
              </a:rPr>
              <a:t> </a:t>
            </a:r>
            <a:r>
              <a:rPr lang="en-US" altLang="zh-CN" dirty="0"/>
              <a:t>/tutorials/lab8_</a:t>
            </a:r>
            <a:r>
              <a:rPr lang="zh-CN" altLang="en-US" dirty="0"/>
              <a:t>使用</a:t>
            </a:r>
            <a:r>
              <a:rPr lang="en-US" altLang="zh-CN" dirty="0" err="1"/>
              <a:t>vivado</a:t>
            </a:r>
            <a:r>
              <a:rPr lang="zh-CN" altLang="en-US" dirty="0"/>
              <a:t>综合与仿真</a:t>
            </a:r>
            <a:r>
              <a:rPr lang="en-US" altLang="zh-CN" dirty="0"/>
              <a:t>.pptx</a:t>
            </a:r>
          </a:p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4FE549-5EB3-4B37-3DB5-7D24802D11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675080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020CF6-75DF-4D87-BF84-3CD447376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安装</a:t>
            </a:r>
            <a:r>
              <a:rPr lang="en-US" altLang="zh-CN" dirty="0" err="1"/>
              <a:t>Vivado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4A8C7F-BCA3-46E4-A4C6-F2BC80AC0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trike="sngStrike" dirty="0"/>
              <a:t>方法</a:t>
            </a:r>
            <a:r>
              <a:rPr lang="en-US" altLang="zh-CN" strike="sngStrike" dirty="0"/>
              <a:t>1</a:t>
            </a:r>
            <a:r>
              <a:rPr lang="zh-CN" altLang="en-US" strike="sngStrike" dirty="0"/>
              <a:t>：从复旦云下载安装包（校内网下载速度快）</a:t>
            </a:r>
            <a:endParaRPr lang="en-US" altLang="zh-CN" strike="sngStrike" dirty="0"/>
          </a:p>
          <a:p>
            <a:pPr lvl="1"/>
            <a:r>
              <a:rPr lang="zh-CN" altLang="en-US" dirty="0"/>
              <a:t>登录</a:t>
            </a:r>
            <a:r>
              <a:rPr lang="en-US" altLang="zh-CN" dirty="0" err="1"/>
              <a:t>ehall</a:t>
            </a:r>
            <a:r>
              <a:rPr lang="zh-CN" altLang="en-US" dirty="0"/>
              <a:t>，下载</a:t>
            </a:r>
            <a:r>
              <a:rPr lang="en-US" altLang="zh-CN" dirty="0" err="1"/>
              <a:t>MotionPro</a:t>
            </a:r>
            <a:r>
              <a:rPr lang="zh-CN" altLang="en-US" dirty="0"/>
              <a:t>并用</a:t>
            </a:r>
            <a:r>
              <a:rPr lang="en-US" altLang="zh-CN" dirty="0"/>
              <a:t>VPN</a:t>
            </a:r>
            <a:r>
              <a:rPr lang="zh-CN" altLang="en-US" dirty="0"/>
              <a:t>连接到校园网</a:t>
            </a:r>
            <a:endParaRPr lang="en-US" altLang="zh-CN" dirty="0"/>
          </a:p>
          <a:p>
            <a:pPr lvl="2"/>
            <a:r>
              <a:rPr lang="en-US" altLang="zh-CN" dirty="0">
                <a:hlinkClick r:id="rId3"/>
              </a:rPr>
              <a:t>https://icampus.fudan.edu.cn/wwwfw/list.htm</a:t>
            </a:r>
            <a:r>
              <a:rPr lang="en-US" altLang="zh-CN" dirty="0"/>
              <a:t>   </a:t>
            </a:r>
          </a:p>
          <a:p>
            <a:pPr lvl="1"/>
            <a:r>
              <a:rPr lang="zh-CN" altLang="en-US" dirty="0"/>
              <a:t>下载并安装复旦云盘</a:t>
            </a:r>
            <a:r>
              <a:rPr lang="en-US" altLang="zh-CN" dirty="0"/>
              <a:t>FudanCloud-setup-4.0.2.exe</a:t>
            </a:r>
          </a:p>
          <a:p>
            <a:pPr lvl="2"/>
            <a:r>
              <a:rPr lang="zh-CN" altLang="zh-CN" dirty="0">
                <a:hlinkClick r:id="rId4"/>
              </a:rPr>
              <a:t>https://cloud.fudan.edu.cn/#routeview/appdownload</a:t>
            </a:r>
            <a:endParaRPr lang="en-US" altLang="zh-CN" dirty="0"/>
          </a:p>
          <a:p>
            <a:pPr lvl="1"/>
            <a:r>
              <a:rPr lang="zh-CN" altLang="en-US" dirty="0"/>
              <a:t>安装</a:t>
            </a:r>
            <a:r>
              <a:rPr lang="en-US" altLang="zh-CN" dirty="0"/>
              <a:t>VIVADO-202402</a:t>
            </a:r>
          </a:p>
          <a:p>
            <a:pPr lvl="2"/>
            <a:r>
              <a:rPr lang="en-US" altLang="zh-CN" dirty="0" err="1"/>
              <a:t>vivado</a:t>
            </a:r>
            <a:r>
              <a:rPr lang="zh-CN" altLang="en-US" dirty="0"/>
              <a:t>目录：</a:t>
            </a:r>
            <a:r>
              <a:rPr lang="en-US" altLang="zh-CN" dirty="0">
                <a:hlinkClick r:id="rId5"/>
              </a:rPr>
              <a:t>https://cloud.fudan.edu.cn/#routeview/s/3eNDe72W</a:t>
            </a:r>
            <a:endParaRPr lang="en-US" altLang="zh-CN" dirty="0"/>
          </a:p>
          <a:p>
            <a:pPr lvl="2"/>
            <a:r>
              <a:rPr lang="zh-CN" altLang="en-US" dirty="0"/>
              <a:t>其中有一个</a:t>
            </a:r>
            <a:r>
              <a:rPr lang="zh-CN" altLang="en-US" b="1" dirty="0"/>
              <a:t>和谐压缩包</a:t>
            </a:r>
            <a:r>
              <a:rPr lang="en-US" altLang="zh-CN" b="1" dirty="0" err="1"/>
              <a:t>eetop.cn_xxxx</a:t>
            </a:r>
            <a:endParaRPr lang="en-US" altLang="zh-CN" b="1" dirty="0"/>
          </a:p>
          <a:p>
            <a:pPr lvl="2"/>
            <a:endParaRPr lang="en-US" altLang="zh-CN" b="1" dirty="0"/>
          </a:p>
          <a:p>
            <a:r>
              <a:rPr lang="zh-CN" altLang="en-US" b="1" dirty="0"/>
              <a:t>方法</a:t>
            </a:r>
            <a:r>
              <a:rPr lang="en-US" altLang="zh-CN" b="1" dirty="0"/>
              <a:t>2</a:t>
            </a:r>
            <a:r>
              <a:rPr lang="zh-CN" altLang="en-US" dirty="0"/>
              <a:t>：从官网下载安装，参考：</a:t>
            </a:r>
            <a:endParaRPr lang="en-US" altLang="zh-CN" dirty="0"/>
          </a:p>
          <a:p>
            <a:pPr lvl="1"/>
            <a:r>
              <a:rPr lang="en-US" altLang="zh-CN" dirty="0">
                <a:hlinkClick r:id="rId6"/>
              </a:rPr>
              <a:t>https://zhuanlan.zhihu.com/p/12227844718</a:t>
            </a:r>
            <a:endParaRPr lang="en-US" altLang="zh-CN" dirty="0"/>
          </a:p>
          <a:p>
            <a:pPr lvl="1"/>
            <a:r>
              <a:rPr lang="en-US" altLang="zh-CN" dirty="0">
                <a:hlinkClick r:id="rId7"/>
              </a:rPr>
              <a:t>https://blog.csdn.net/sunshine_atk/article/details/144216065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D48293-A742-4F1C-A238-FD71E6BAE6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239916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7438C-55F7-3E33-8A5A-A73816E97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新建</a:t>
            </a:r>
            <a:r>
              <a:rPr lang="en-US" altLang="zh-CN" dirty="0"/>
              <a:t>project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FD58F9BF-DF35-C99D-468F-6E6987A0B3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9637" y="1295382"/>
            <a:ext cx="6924726" cy="4772060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9BDB13-3634-C67F-728E-395D3B0B84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98156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DF2DE7-DE55-6BA6-E8BA-07E1B84F4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project</a:t>
            </a:r>
            <a:r>
              <a:rPr lang="zh-CN" altLang="en-US" dirty="0"/>
              <a:t>类型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39C93F82-0398-E93B-5B30-E0465D2BA3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5959" y="1196975"/>
            <a:ext cx="7212081" cy="4968875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3D4E89-B318-BF94-8500-451A75AF9E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302418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0C59AF-2328-AC68-5B67-6E001AB80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添加设计源码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F1EE72CC-9D7A-A5BF-91CB-FDD3625C45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4695" y="1196975"/>
            <a:ext cx="5114610" cy="4968875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0BFCF5-CFBD-9BD5-4B06-D43D069B1F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215835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D8FAEB-2C89-51EA-3762-71CB90A5C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选择目标器件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E86C09BC-87F9-98BE-7F4D-05801F7DC2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7644" y="1196975"/>
            <a:ext cx="5128712" cy="4968875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3FFF3C-2149-E92A-CF64-E4CDC61F84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383975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76B85D-A0E9-9F3F-E7CF-5901B69B0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项目信息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87532A01-5205-C2D2-B326-F00DAFA5C0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2312" y="1196975"/>
            <a:ext cx="5139375" cy="4968875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CAD878-F94E-D775-3CB2-85D3FDAF5D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1868233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3480A3-BDBF-C94C-9444-07CC69102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右键</a:t>
            </a:r>
            <a:r>
              <a:rPr lang="en-US" altLang="zh-CN" dirty="0"/>
              <a:t>sim_1</a:t>
            </a:r>
            <a:r>
              <a:rPr lang="zh-CN" altLang="en-US" dirty="0"/>
              <a:t>，添加仿真</a:t>
            </a:r>
            <a:r>
              <a:rPr lang="en-US" altLang="zh-CN" dirty="0"/>
              <a:t>testbench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24CBE7C6-F2E7-7806-60E7-B373374C59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7370" y="1196975"/>
            <a:ext cx="7809259" cy="4968875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7B4DB7-B122-0282-6EA7-3B25CC5D5C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25198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F2F8B5-3FD5-A0FC-C9DF-EE5EA5DC2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右键</a:t>
            </a:r>
            <a:r>
              <a:rPr lang="en-US" altLang="zh-CN" dirty="0" err="1"/>
              <a:t>MM_Ultra_tb</a:t>
            </a:r>
            <a:r>
              <a:rPr lang="zh-CN" altLang="en-US" dirty="0"/>
              <a:t>，设置该文件为仿真顶层</a:t>
            </a:r>
            <a:r>
              <a:rPr lang="en-US" altLang="zh-CN" dirty="0"/>
              <a:t>top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B771FA4E-119B-D7F8-385D-7ADCCEBA36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5466" y="1196975"/>
            <a:ext cx="4793067" cy="4968875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62E253-F541-34A1-F754-65C68EAFF3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97677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0A9351-09B4-362D-A3B9-E0376A3F2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Settings-&gt;Simulation</a:t>
            </a:r>
            <a:r>
              <a:rPr lang="zh-CN" altLang="en-US" dirty="0"/>
              <a:t>，设置仿真器，缺省</a:t>
            </a:r>
            <a:r>
              <a:rPr lang="en-US" altLang="zh-CN" dirty="0" err="1"/>
              <a:t>Vivado</a:t>
            </a:r>
            <a:r>
              <a:rPr lang="en-US" altLang="zh-CN" dirty="0"/>
              <a:t> Simulator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39F6363-C853-9F45-F6E1-3E443EF038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1574" y="1196975"/>
            <a:ext cx="6300851" cy="4968875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E25B27-C955-1FCF-23AD-C5BF8C64D7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081422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BD8FE6-46E7-F052-3E52-64699EF87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点击</a:t>
            </a:r>
            <a:r>
              <a:rPr lang="en-US" altLang="zh-CN" dirty="0"/>
              <a:t>Run Simulation-&gt;Run Behavioral Simulation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D78E2850-1B3A-E632-FE2B-2DB095EA99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8374" y="1405027"/>
            <a:ext cx="8229600" cy="4448490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C4ACDC-8F43-8371-1CC5-B748A5335A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76EF05-479A-1F69-D47F-AE796CA082D1}"/>
              </a:ext>
            </a:extLst>
          </p:cNvPr>
          <p:cNvSpPr txBox="1"/>
          <p:nvPr/>
        </p:nvSpPr>
        <p:spPr>
          <a:xfrm>
            <a:off x="2746019" y="6010476"/>
            <a:ext cx="3651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需要等待一段时间，出现波形界面</a:t>
            </a:r>
          </a:p>
        </p:txBody>
      </p:sp>
    </p:spTree>
    <p:extLst>
      <p:ext uri="{BB962C8B-B14F-4D97-AF65-F5344CB8AC3E}">
        <p14:creationId xmlns:p14="http://schemas.microsoft.com/office/powerpoint/2010/main" val="4234761831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6495CA-D41B-621B-B5CB-63F2114D5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Open Elaboration Design</a:t>
            </a:r>
            <a:r>
              <a:rPr lang="zh-CN" altLang="en-US" dirty="0"/>
              <a:t>查看设计层次和原理图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18F29E-EBD0-A4B2-183A-35D5A91098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8" name="内容占位符 5">
            <a:extLst>
              <a:ext uri="{FF2B5EF4-FFF2-40B4-BE49-F238E27FC236}">
                <a16:creationId xmlns:a16="http://schemas.microsoft.com/office/drawing/2014/main" id="{E20B3C5A-3E33-58CB-3229-E6E280FDD6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447297"/>
            <a:ext cx="8229600" cy="4468231"/>
          </a:xfrm>
        </p:spPr>
      </p:pic>
    </p:spTree>
    <p:extLst>
      <p:ext uri="{BB962C8B-B14F-4D97-AF65-F5344CB8AC3E}">
        <p14:creationId xmlns:p14="http://schemas.microsoft.com/office/powerpoint/2010/main" val="8894987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BDA3DF-C1C1-C5E4-8D04-3EFD9255A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Run Synthesis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99F47B-EFA3-4737-BC1C-D470746317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14</a:t>
            </a:fld>
            <a:endParaRPr lang="zh-CN" altLang="en-US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E8B89A76-3C26-4802-4BB3-CDD560B946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3269" y="1196975"/>
            <a:ext cx="6337461" cy="4968875"/>
          </a:xfrm>
        </p:spPr>
      </p:pic>
    </p:spTree>
    <p:extLst>
      <p:ext uri="{BB962C8B-B14F-4D97-AF65-F5344CB8AC3E}">
        <p14:creationId xmlns:p14="http://schemas.microsoft.com/office/powerpoint/2010/main" val="1413058335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9CDEA4-5D30-17CD-7ABC-9BD5D72EC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Synthesis Reports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1884465E-79D5-BC33-1FF6-D13EB412A4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998807"/>
            <a:ext cx="8229600" cy="3365211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0F44F5-6FE5-F035-D11D-1F416140F5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7109357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D72836-7FB4-AB14-3FF1-AB6B1C97F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创建</a:t>
            </a:r>
            <a:r>
              <a:rPr lang="en-US" altLang="zh-CN" dirty="0"/>
              <a:t>block design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CA7283-FD6C-AE1E-982A-2807D8253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400" dirty="0"/>
              <a:t>Tools-&gt;Run </a:t>
            </a:r>
            <a:r>
              <a:rPr lang="en-US" altLang="zh-CN" sz="1400" dirty="0" err="1"/>
              <a:t>Tcl</a:t>
            </a:r>
            <a:r>
              <a:rPr lang="en-US" altLang="zh-CN" sz="1400" dirty="0"/>
              <a:t> Script…</a:t>
            </a:r>
          </a:p>
          <a:p>
            <a:r>
              <a:rPr lang="zh-CN" altLang="en-US" sz="1400" dirty="0"/>
              <a:t>选择文件：</a:t>
            </a:r>
            <a:r>
              <a:rPr lang="en-US" altLang="zh-CN" sz="1400" dirty="0" err="1"/>
              <a:t>asic_labs</a:t>
            </a:r>
            <a:r>
              <a:rPr lang="en-US" altLang="zh-CN" sz="1400" dirty="0"/>
              <a:t>/lab1/</a:t>
            </a:r>
            <a:r>
              <a:rPr lang="en-US" altLang="zh-CN" sz="1400" dirty="0" err="1"/>
              <a:t>vivado</a:t>
            </a:r>
            <a:r>
              <a:rPr lang="en-US" altLang="zh-CN" sz="1400" dirty="0"/>
              <a:t>/prj_vivado202402.tcl</a:t>
            </a:r>
          </a:p>
          <a:p>
            <a:r>
              <a:rPr lang="zh-CN" altLang="en-US" sz="1400" dirty="0"/>
              <a:t>自动生成一个</a:t>
            </a:r>
            <a:r>
              <a:rPr lang="en-US" altLang="zh-CN" sz="1400" dirty="0"/>
              <a:t>block design “design_1.bd”</a:t>
            </a:r>
            <a:endParaRPr lang="zh-CN" altLang="en-US" sz="1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26D27A-0213-3805-C723-86E53EA8C3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16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7DF9177-411E-5A17-23FA-46C5CBDE9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37" y="2376264"/>
            <a:ext cx="2844830" cy="386104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72F97D2-0D96-B3E8-543B-9C992362D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904" y="2852936"/>
            <a:ext cx="5301484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884899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448D48-2AA9-F58F-3322-D4DF1FB5F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添加</a:t>
            </a:r>
            <a:r>
              <a:rPr lang="en-US" altLang="zh-CN" dirty="0"/>
              <a:t>design_1_wrapper.v</a:t>
            </a:r>
            <a:r>
              <a:rPr lang="zh-CN" altLang="en-US" dirty="0"/>
              <a:t>，并设置为</a:t>
            </a:r>
            <a:r>
              <a:rPr lang="en-US" altLang="zh-CN" dirty="0"/>
              <a:t>top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4BC6EACC-CA1E-C8F3-712A-950D5151B7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528" y="1835549"/>
            <a:ext cx="4778899" cy="3321644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74675F-DEE0-AA77-78BB-4F8F3CC7E6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17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C17151C-26F1-F184-6FAD-3AEEECA82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104" y="1412775"/>
            <a:ext cx="3456384" cy="484600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6735998D-87D5-CD81-97E3-32799B711288}"/>
              </a:ext>
            </a:extLst>
          </p:cNvPr>
          <p:cNvSpPr/>
          <p:nvPr/>
        </p:nvSpPr>
        <p:spPr>
          <a:xfrm>
            <a:off x="6948264" y="4293096"/>
            <a:ext cx="1656184" cy="2160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7100086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8376F0-862F-F8D7-CA63-B6CC04CCF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添加引脚约束文件</a:t>
            </a:r>
            <a:r>
              <a:rPr lang="fi-FI" altLang="zh-CN" dirty="0"/>
              <a:t>pynq_z2_pin_assign.xdc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A35B07A4-EF00-B8F3-43B2-89C447804E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431" y="1124744"/>
            <a:ext cx="3201965" cy="4968875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82752F-ABD6-7747-D83A-183EF5624F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18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8F363A6-74D7-E412-E3BF-C484FD54B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36" y="1369430"/>
            <a:ext cx="4408153" cy="1937308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EA786F14-8F7F-C6E0-774F-45FECED40DCC}"/>
              </a:ext>
            </a:extLst>
          </p:cNvPr>
          <p:cNvSpPr/>
          <p:nvPr/>
        </p:nvSpPr>
        <p:spPr>
          <a:xfrm>
            <a:off x="940871" y="4282331"/>
            <a:ext cx="1974945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1861B5F-C093-D168-D1E0-DBE0BCF479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8693" y="3609180"/>
            <a:ext cx="5714587" cy="2772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067245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81C1FF-3C2E-53CA-ACA0-8A99F5502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Run Implementation &amp; Generate Bitstream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08CAB84F-4732-6F2B-DA97-5107EE7FAC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2280" y="1196975"/>
            <a:ext cx="7539439" cy="4968875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92F56C-5246-88AD-EE35-346B3123CF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9486729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40F29A-047C-D9B7-1DF6-BFCBA04DB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Reports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019AF881-4DE3-FA4F-9F94-6E5501F3E1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6451" y="1268760"/>
            <a:ext cx="8229600" cy="2304078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3C39A6-8825-0FBA-017E-76EA681FE2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20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C2561E9-E736-8B75-CD47-E18CFECE8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51" y="3789040"/>
            <a:ext cx="8229600" cy="224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839670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F9FDB8-854A-0843-0052-91D734293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下载位流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4EF3A0A3-96BE-9487-CCBD-928115C14A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8876" y="1196975"/>
            <a:ext cx="8226248" cy="4968875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122618-E8A8-261B-3E5A-97E710E981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858050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英文学术报告范例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沉稳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CEDC7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97337</TotalTime>
  <Words>354</Words>
  <Application>Microsoft Office PowerPoint</Application>
  <PresentationFormat>全屏显示(4:3)</PresentationFormat>
  <Paragraphs>62</Paragraphs>
  <Slides>21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Arial</vt:lpstr>
      <vt:lpstr>Arial Black</vt:lpstr>
      <vt:lpstr>Calibri</vt:lpstr>
      <vt:lpstr>Times New Roman</vt:lpstr>
      <vt:lpstr>Wingdings</vt:lpstr>
      <vt:lpstr>英文学术报告范例</vt:lpstr>
      <vt:lpstr>实验-使用vivado综合与仿真</vt:lpstr>
      <vt:lpstr>实验8-使用vivado综合与仿真</vt:lpstr>
      <vt:lpstr>安装Vivado</vt:lpstr>
      <vt:lpstr>新建project</vt:lpstr>
      <vt:lpstr>project类型</vt:lpstr>
      <vt:lpstr>添加设计源码</vt:lpstr>
      <vt:lpstr>选择目标器件</vt:lpstr>
      <vt:lpstr>项目信息</vt:lpstr>
      <vt:lpstr>右键sim_1，添加仿真testbench</vt:lpstr>
      <vt:lpstr>右键MM_Ultra_tb，设置该文件为仿真顶层top</vt:lpstr>
      <vt:lpstr>Settings-&gt;Simulation，设置仿真器，缺省Vivado Simulator</vt:lpstr>
      <vt:lpstr>点击Run Simulation-&gt;Run Behavioral Simulation</vt:lpstr>
      <vt:lpstr>Open Elaboration Design查看设计层次和原理图</vt:lpstr>
      <vt:lpstr>Run Synthesis</vt:lpstr>
      <vt:lpstr>Synthesis Reports</vt:lpstr>
      <vt:lpstr>创建block design</vt:lpstr>
      <vt:lpstr>添加design_1_wrapper.v，并设置为top</vt:lpstr>
      <vt:lpstr>添加引脚约束文件pynq_z2_pin_assign.xdc</vt:lpstr>
      <vt:lpstr>Run Implementation &amp; Generate Bitstream</vt:lpstr>
      <vt:lpstr>Reports</vt:lpstr>
      <vt:lpstr>下载位流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mapping</dc:title>
  <dc:creator>Administrator</dc:creator>
  <cp:lastModifiedBy>wenbo yin</cp:lastModifiedBy>
  <cp:revision>9511</cp:revision>
  <cp:lastPrinted>2024-09-13T14:20:38Z</cp:lastPrinted>
  <dcterms:created xsi:type="dcterms:W3CDTF">2014-09-16T00:06:32Z</dcterms:created>
  <dcterms:modified xsi:type="dcterms:W3CDTF">2025-11-14T14:03:02Z</dcterms:modified>
</cp:coreProperties>
</file>