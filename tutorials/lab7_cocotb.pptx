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4040" r:id="rId1"/>
  </p:sldMasterIdLst>
  <p:notesMasterIdLst>
    <p:notesMasterId r:id="rId6"/>
  </p:notesMasterIdLst>
  <p:sldIdLst>
    <p:sldId id="2248" r:id="rId2"/>
    <p:sldId id="7131" r:id="rId3"/>
    <p:sldId id="7132" r:id="rId4"/>
    <p:sldId id="7133" r:id="rId5"/>
  </p:sldIdLst>
  <p:sldSz cx="9144000" cy="6858000" type="screen4x3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提纲" id="{61A3C44E-92D6-46EB-A1AC-09F30B6D5135}">
          <p14:sldIdLst>
            <p14:sldId id="2248"/>
            <p14:sldId id="7131"/>
            <p14:sldId id="7132"/>
            <p14:sldId id="71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尹 文波" initials="尹" lastIdx="1" clrIdx="0">
    <p:extLst>
      <p:ext uri="{19B8F6BF-5375-455C-9EA6-DF929625EA0E}">
        <p15:presenceInfo xmlns:p15="http://schemas.microsoft.com/office/powerpoint/2012/main" userId="7219ddfe7c57d0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3" autoAdjust="0"/>
    <p:restoredTop sz="86871" autoAdjust="0"/>
  </p:normalViewPr>
  <p:slideViewPr>
    <p:cSldViewPr>
      <p:cViewPr varScale="1">
        <p:scale>
          <a:sx n="96" d="100"/>
          <a:sy n="96" d="100"/>
        </p:scale>
        <p:origin x="2019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ED75E01-0EF1-48C2-A225-423E6166D74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7027C812-51A0-4146-959B-26F7A04B25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5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570">
              <a:defRPr/>
            </a:pPr>
            <a:endParaRPr lang="zh-CN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06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25738E0-514B-4B27-865A-11992516E93C}" type="datetime4">
              <a:rPr lang="en-US" altLang="zh-CN" smtClean="0"/>
              <a:t>November 13, 2025</a:t>
            </a:fld>
            <a:endParaRPr lang="zh-CN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9DFEEC-E358-4914-BDD4-EE95DB6063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06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492D-E599-4F0D-BA78-6EEA0311D34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221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BBE8C-0A4B-43CE-9430-1242DFAA733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340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41A39-4A90-477E-8107-2FD1A1C9539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8528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22313" y="2624933"/>
            <a:ext cx="7772400" cy="2748283"/>
          </a:xfrm>
        </p:spPr>
        <p:txBody>
          <a:bodyPr anchor="t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 sz="2000" b="1" cap="all"/>
            </a:lvl1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单击此处编辑母版文本样式</a:t>
            </a:r>
            <a:b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</a:b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28800"/>
            <a:ext cx="7772400" cy="996131"/>
          </a:xfrm>
        </p:spPr>
        <p:txBody>
          <a:bodyPr anchor="b"/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zh-CN" altLang="en-US" sz="4000" b="1" cap="all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9EA72-D578-4F57-BEAD-86CF28FC678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907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93800"/>
            <a:ext cx="3765550" cy="4927600"/>
          </a:xfrm>
        </p:spPr>
        <p:txBody>
          <a:bodyPr/>
          <a:lstStyle>
            <a:lvl1pPr marL="182880" indent="-173038">
              <a:spcBef>
                <a:spcPts val="0"/>
              </a:spcBef>
              <a:tabLst/>
              <a:defRPr sz="2000"/>
            </a:lvl1pPr>
            <a:lvl2pPr marL="457200" indent="-228600">
              <a:tabLst/>
              <a:defRPr sz="1800"/>
            </a:lvl2pPr>
            <a:lvl3pPr marL="631825" indent="-174625">
              <a:tabLst/>
              <a:defRPr sz="1600"/>
            </a:lvl3pPr>
            <a:lvl4pPr marL="746125" indent="-114300">
              <a:tabLst/>
              <a:defRPr sz="1400"/>
            </a:lvl4pPr>
            <a:lvl5pPr marL="915988" indent="-169863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193800"/>
            <a:ext cx="3765550" cy="4927600"/>
          </a:xfrm>
        </p:spPr>
        <p:txBody>
          <a:bodyPr/>
          <a:lstStyle>
            <a:lvl1pPr marL="173736" indent="-173038">
              <a:spcBef>
                <a:spcPts val="0"/>
              </a:spcBef>
              <a:tabLst/>
              <a:defRPr sz="2000"/>
            </a:lvl1pPr>
            <a:lvl2pPr marL="403225" indent="-230188">
              <a:tabLst/>
              <a:defRPr sz="1800"/>
            </a:lvl2pPr>
            <a:lvl3pPr marL="571500" indent="-168275">
              <a:tabLst/>
              <a:defRPr sz="1600"/>
            </a:lvl3pPr>
            <a:lvl4pPr marL="685800" indent="-114300">
              <a:tabLst/>
              <a:defRPr sz="1400"/>
            </a:lvl4pPr>
            <a:lvl5pPr marL="860425" indent="-174625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607546-6874-DF43-9D9F-828C20612237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5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43000"/>
            <a:ext cx="84582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082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618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32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723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6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865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6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271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 flipV="1">
            <a:off x="-103517" y="18931"/>
            <a:ext cx="9193602" cy="7445190"/>
          </a:xfrm>
          <a:prstGeom prst="rect">
            <a:avLst/>
          </a:prstGeom>
          <a:gradFill flip="none" rotWithShape="1">
            <a:gsLst>
              <a:gs pos="100000">
                <a:srgbClr val="EBF2FA">
                  <a:alpha val="50000"/>
                </a:srgbClr>
              </a:gs>
              <a:gs pos="0">
                <a:srgbClr val="F6F8FC"/>
              </a:gs>
            </a:gsLst>
            <a:lin ang="10200000" scaled="0"/>
            <a:tileRect/>
          </a:gradFill>
          <a:ln w="22225">
            <a:gradFill flip="none" rotWithShape="1">
              <a:gsLst>
                <a:gs pos="0">
                  <a:srgbClr val="AEDBFC"/>
                </a:gs>
                <a:gs pos="100000">
                  <a:srgbClr val="044170">
                    <a:alpha val="20000"/>
                  </a:srgbClr>
                </a:gs>
              </a:gsLst>
              <a:lin ang="19200000" scaled="0"/>
              <a:tileRect/>
            </a:gra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5" name="组合 14"/>
          <p:cNvGrpSpPr/>
          <p:nvPr userDrawn="1"/>
        </p:nvGrpSpPr>
        <p:grpSpPr>
          <a:xfrm flipV="1">
            <a:off x="1936532" y="6734663"/>
            <a:ext cx="5822835" cy="128556"/>
            <a:chOff x="650211" y="1051965"/>
            <a:chExt cx="7649903" cy="143109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0" name="任意多边形: 形状 19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17" name="直接连接符 16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 userDrawn="1"/>
        </p:nvGrpSpPr>
        <p:grpSpPr>
          <a:xfrm flipH="1" flipV="1">
            <a:off x="1660583" y="0"/>
            <a:ext cx="5822835" cy="128556"/>
            <a:chOff x="650211" y="1051965"/>
            <a:chExt cx="7649903" cy="143109"/>
          </a:xfrm>
        </p:grpSpPr>
        <p:grpSp>
          <p:nvGrpSpPr>
            <p:cNvPr id="23" name="组合 22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7" name="任意多边形: 形状 26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24" name="直接连接符 23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72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CA1-B04C-4C04-8D1E-77CF30B3E24E}" type="datetime1">
              <a:rPr lang="en-US" altLang="zh-CN" smtClean="0"/>
              <a:t>11/13/2025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59F9-3CCC-4B0B-855C-A44C06AE2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7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2"/>
            <a:ext cx="8233646" cy="4268337"/>
          </a:xfrm>
          <a:prstGeom prst="rect">
            <a:avLst/>
          </a:prstGeom>
        </p:spPr>
        <p:txBody>
          <a:bodyPr/>
          <a:lstStyle>
            <a:lvl1pPr marL="290513" indent="-290513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038">
              <a:lnSpc>
                <a:spcPct val="110000"/>
              </a:lnSpc>
              <a:defRPr sz="1400"/>
            </a:lvl3pPr>
            <a:lvl4pPr marL="914400" indent="-173038">
              <a:lnSpc>
                <a:spcPct val="110000"/>
              </a:lnSpc>
              <a:buFont typeface="Arial" pitchFamily="34" charset="0"/>
              <a:buChar char="–"/>
              <a:defRPr sz="1400"/>
            </a:lvl4pPr>
            <a:lvl5pPr marL="1319213" indent="-34766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2058055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Embedded System Design Review 11-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2017 Xilinx</a:t>
            </a:r>
          </a:p>
        </p:txBody>
      </p:sp>
    </p:spTree>
    <p:extLst>
      <p:ext uri="{BB962C8B-B14F-4D97-AF65-F5344CB8AC3E}">
        <p14:creationId xmlns:p14="http://schemas.microsoft.com/office/powerpoint/2010/main" val="329273009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974EF1F-28E2-46E1-8A56-BBE447A6674C}"/>
              </a:ext>
            </a:extLst>
          </p:cNvPr>
          <p:cNvCxnSpPr>
            <a:cxnSpLocks/>
          </p:cNvCxnSpPr>
          <p:nvPr userDrawn="1"/>
        </p:nvCxnSpPr>
        <p:spPr>
          <a:xfrm>
            <a:off x="389107" y="943580"/>
            <a:ext cx="8389133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F71D51F-85E7-49A7-95BA-ECE1AA577879}"/>
              </a:ext>
            </a:extLst>
          </p:cNvPr>
          <p:cNvGrpSpPr/>
          <p:nvPr userDrawn="1"/>
        </p:nvGrpSpPr>
        <p:grpSpPr>
          <a:xfrm rot="5400000">
            <a:off x="351949" y="29528"/>
            <a:ext cx="304800" cy="245745"/>
            <a:chOff x="0" y="440055"/>
            <a:chExt cx="407670" cy="409074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7A56ED9-A904-42F8-BD04-2131FE81539A}"/>
                </a:ext>
              </a:extLst>
            </p:cNvPr>
            <p:cNvSpPr/>
            <p:nvPr/>
          </p:nvSpPr>
          <p:spPr>
            <a:xfrm>
              <a:off x="45720" y="440055"/>
              <a:ext cx="361950" cy="409074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49ABB15-E739-44FB-85B9-90545F8DF67E}"/>
                </a:ext>
              </a:extLst>
            </p:cNvPr>
            <p:cNvSpPr/>
            <p:nvPr/>
          </p:nvSpPr>
          <p:spPr>
            <a:xfrm>
              <a:off x="0" y="440055"/>
              <a:ext cx="321945" cy="4090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1" name="标题 1">
            <a:extLst>
              <a:ext uri="{FF2B5EF4-FFF2-40B4-BE49-F238E27FC236}">
                <a16:creationId xmlns:a16="http://schemas.microsoft.com/office/drawing/2014/main" id="{1D0C0689-3F81-4B61-81A0-5E95ED7F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07" y="365126"/>
            <a:ext cx="7170798" cy="578454"/>
          </a:xfrm>
        </p:spPr>
        <p:txBody>
          <a:bodyPr lIns="0" rIns="0">
            <a:normAutofit/>
          </a:bodyPr>
          <a:lstStyle>
            <a:lvl1pPr>
              <a:lnSpc>
                <a:spcPct val="100000"/>
              </a:lnSpc>
              <a:defRPr sz="195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2" name="灯片编号占位符 5">
            <a:extLst>
              <a:ext uri="{FF2B5EF4-FFF2-40B4-BE49-F238E27FC236}">
                <a16:creationId xmlns:a16="http://schemas.microsoft.com/office/drawing/2014/main" id="{89CC42FF-8C6D-478B-94CF-16C20DB99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23653" y="6356351"/>
            <a:ext cx="29669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fld id="{A48020E0-1C4F-4D89-9FD1-EC2E5B71218B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685800">
                <a:defRPr/>
              </a:pPr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EB2A82-A755-46F1-97B8-45AB2D5226DC}"/>
              </a:ext>
            </a:extLst>
          </p:cNvPr>
          <p:cNvCxnSpPr/>
          <p:nvPr userDrawn="1"/>
        </p:nvCxnSpPr>
        <p:spPr>
          <a:xfrm flipH="1">
            <a:off x="4354385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8F62463-3B27-4EFC-ABCE-4D02F165A9B3}"/>
              </a:ext>
            </a:extLst>
          </p:cNvPr>
          <p:cNvCxnSpPr/>
          <p:nvPr userDrawn="1"/>
        </p:nvCxnSpPr>
        <p:spPr>
          <a:xfrm flipH="1">
            <a:off x="4717403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45" r="100000">
                        <a14:foregroundMark x1="47757" y1="38095" x2="47757" y2="38095"/>
                        <a14:foregroundMark x1="49059" y1="53968" x2="49059" y2="53968"/>
                        <a14:foregroundMark x1="63386" y1="57143" x2="63386" y2="57143"/>
                        <a14:foregroundMark x1="63386" y1="67460" x2="63386" y2="67460"/>
                        <a14:foregroundMark x1="76411" y1="56746" x2="76411" y2="56746"/>
                        <a14:foregroundMark x1="78871" y1="50397" x2="78871" y2="50397"/>
                        <a14:foregroundMark x1="94211" y1="44841" x2="94211" y2="44841"/>
                        <a14:foregroundMark x1="90593" y1="41270" x2="90593" y2="41270"/>
                        <a14:foregroundMark x1="88423" y1="57937" x2="88423" y2="57937"/>
                        <a14:foregroundMark x1="92764" y1="70635" x2="92764" y2="706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0948" y="240707"/>
            <a:ext cx="1397292" cy="67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94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1"/>
            <a:ext cx="8233647" cy="4268337"/>
          </a:xfr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E"/>
              <a:t>Click to edit Master text styles</a:t>
            </a:r>
          </a:p>
          <a:p>
            <a:pPr lvl="0"/>
            <a:r>
              <a:rPr lang="en-IE"/>
              <a:t>Second level</a:t>
            </a:r>
          </a:p>
          <a:p>
            <a:pPr lvl="0"/>
            <a:r>
              <a:rPr lang="en-IE"/>
              <a:t>Third level</a:t>
            </a:r>
          </a:p>
          <a:p>
            <a:pPr lvl="0"/>
            <a:r>
              <a:rPr lang="en-IE"/>
              <a:t>Fourth level</a:t>
            </a:r>
          </a:p>
          <a:p>
            <a:pPr lvl="0"/>
            <a:r>
              <a:rPr lang="en-IE"/>
              <a:t>Fifth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1134537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SDSoC</a:t>
            </a:r>
            <a:r>
              <a:rPr lang="en-US" dirty="0"/>
              <a:t> Overview 12-</a:t>
            </a:r>
            <a:fld id="{BFCA2A5C-65D0-4F71-B4D8-734FF63F7E2F}" type="slidenum">
              <a:rPr smtClean="0"/>
              <a:pPr>
                <a:defRPr/>
              </a:pPr>
              <a:t>‹#›</a:t>
            </a:fld>
            <a:endParaRPr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IE"/>
              <a:t>Click to edit Master title style</a:t>
            </a:r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2015 Xilinx</a:t>
            </a:r>
          </a:p>
        </p:txBody>
      </p:sp>
    </p:spTree>
    <p:extLst>
      <p:ext uri="{BB962C8B-B14F-4D97-AF65-F5344CB8AC3E}">
        <p14:creationId xmlns:p14="http://schemas.microsoft.com/office/powerpoint/2010/main" val="262136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B2B2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60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752"/>
            <a:ext cx="822960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539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6C2F118-23C6-4D76-A422-251B03B97126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4" r:id="rId3"/>
    <p:sldLayoutId id="2147484046" r:id="rId4"/>
    <p:sldLayoutId id="2147484043" r:id="rId5"/>
    <p:sldLayoutId id="2147484048" r:id="rId6"/>
    <p:sldLayoutId id="2147484054" r:id="rId7"/>
    <p:sldLayoutId id="2147484055" r:id="rId8"/>
    <p:sldLayoutId id="2147484057" r:id="rId9"/>
    <p:sldLayoutId id="2147484058" r:id="rId10"/>
    <p:sldLayoutId id="2147484059" r:id="rId11"/>
    <p:sldLayoutId id="2147484060" r:id="rId12"/>
    <p:sldLayoutId id="2147484061" r:id="rId13"/>
    <p:sldLayoutId id="2147484062" r:id="rId14"/>
    <p:sldLayoutId id="2147484063" r:id="rId15"/>
    <p:sldLayoutId id="2147484064" r:id="rId16"/>
    <p:sldLayoutId id="2147484065" r:id="rId17"/>
    <p:sldLayoutId id="2147484067" r:id="rId18"/>
    <p:sldLayoutId id="2147484068" r:id="rId19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1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eyer.org/icarus/iverilog-v12-20220611-x64_setup.exe" TargetMode="External"/><Relationship Id="rId2" Type="http://schemas.openxmlformats.org/officeDocument/2006/relationships/hyperlink" Target="https://www.python.org/ftp/python/3.10.0/python-3.10.0-amd64.ex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github.com/cocotb/cocotb.git" TargetMode="External"/><Relationship Id="rId4" Type="http://schemas.openxmlformats.org/officeDocument/2006/relationships/hyperlink" Target="http://www.dspia.com/gtkwave.exe.gz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971800" y="1828800"/>
            <a:ext cx="6019800" cy="2209800"/>
          </a:xfrm>
        </p:spPr>
        <p:txBody>
          <a:bodyPr/>
          <a:lstStyle/>
          <a:p>
            <a:r>
              <a:rPr lang="zh-CN" altLang="en-US" sz="3600" dirty="0">
                <a:solidFill>
                  <a:schemeClr val="bg1"/>
                </a:solidFill>
              </a:rPr>
              <a:t>实验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使用</a:t>
            </a:r>
            <a:r>
              <a:rPr lang="en-US" altLang="zh-CN" sz="3600" dirty="0" err="1">
                <a:solidFill>
                  <a:schemeClr val="bg1"/>
                </a:solidFill>
              </a:rPr>
              <a:t>cocotb</a:t>
            </a:r>
            <a:r>
              <a:rPr lang="zh-CN" altLang="en-US" sz="3600" dirty="0">
                <a:solidFill>
                  <a:schemeClr val="bg1"/>
                </a:solidFill>
              </a:rPr>
              <a:t>仿真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971800" y="4267200"/>
            <a:ext cx="6019800" cy="1752600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fld id="{C72C8A34-36C0-4CD0-B61C-9E44AB5AF9D0}" type="datetime2"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t>2025年11月13日</a:t>
            </a:fld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85389925"/>
      </p:ext>
    </p:extLst>
  </p:cSld>
  <p:clrMapOvr>
    <a:masterClrMapping/>
  </p:clrMapOvr>
  <p:transition advTm="158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E8EF2-815E-AFF7-5336-7C2B0B1F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-</a:t>
            </a:r>
            <a:r>
              <a:rPr lang="zh-CN" altLang="en-US" dirty="0"/>
              <a:t>使用</a:t>
            </a:r>
            <a:r>
              <a:rPr lang="en-US" altLang="zh-CN" dirty="0" err="1"/>
              <a:t>cocotb</a:t>
            </a:r>
            <a:r>
              <a:rPr lang="zh-CN" altLang="en-US" dirty="0"/>
              <a:t>仿真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1C90D0-AECE-4C0C-ECCC-4DE3AD354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200" dirty="0"/>
              <a:t>Win10/Win11/Ubuntu22</a:t>
            </a:r>
            <a:r>
              <a:rPr lang="zh-CN" altLang="en-US" sz="1200" dirty="0"/>
              <a:t>（以下过程在</a:t>
            </a:r>
            <a:r>
              <a:rPr lang="en-US" altLang="zh-CN" sz="1200" dirty="0"/>
              <a:t>win10</a:t>
            </a:r>
            <a:r>
              <a:rPr lang="zh-CN" altLang="en-US" sz="1200" dirty="0"/>
              <a:t>下测试）</a:t>
            </a:r>
            <a:endParaRPr lang="en-US" altLang="zh-CN" sz="1200" dirty="0"/>
          </a:p>
          <a:p>
            <a:r>
              <a:rPr lang="zh-CN" altLang="en-US" sz="1200" dirty="0"/>
              <a:t>下载和安装 </a:t>
            </a:r>
            <a:r>
              <a:rPr lang="en-US" altLang="zh-CN" sz="1200" dirty="0"/>
              <a:t>Python 3.10+/</a:t>
            </a:r>
            <a:r>
              <a:rPr lang="en-US" altLang="zh-CN" sz="1200" dirty="0" err="1"/>
              <a:t>iverilog</a:t>
            </a:r>
            <a:r>
              <a:rPr lang="en-US" altLang="zh-CN" sz="1200" dirty="0"/>
              <a:t>/</a:t>
            </a:r>
            <a:r>
              <a:rPr lang="en-US" altLang="zh-CN" sz="1200" dirty="0" err="1"/>
              <a:t>gtkwave</a:t>
            </a:r>
            <a:endParaRPr lang="en-US" altLang="zh-CN" sz="1200" dirty="0"/>
          </a:p>
          <a:p>
            <a:pPr lvl="1"/>
            <a:r>
              <a:rPr lang="en-US" altLang="zh-CN" sz="1100" dirty="0">
                <a:hlinkClick r:id="rId2"/>
              </a:rPr>
              <a:t>https://www.python.org/ftp/python/3.10.0/python-3.10.0-amd64.exe</a:t>
            </a:r>
            <a:endParaRPr lang="en-US" altLang="zh-CN" sz="1100" dirty="0"/>
          </a:p>
          <a:p>
            <a:pPr lvl="1"/>
            <a:r>
              <a:rPr lang="en-US" altLang="zh-CN" sz="1100" dirty="0">
                <a:hlinkClick r:id="rId3"/>
              </a:rPr>
              <a:t>https://bleyer.org/icarus/iverilog-v12-20220611-x64_setup.exe</a:t>
            </a:r>
            <a:endParaRPr lang="en-US" altLang="zh-CN" sz="1100" dirty="0"/>
          </a:p>
          <a:p>
            <a:pPr lvl="1"/>
            <a:r>
              <a:rPr lang="en-US" altLang="zh-CN" sz="1100" dirty="0">
                <a:hlinkClick r:id="rId4"/>
              </a:rPr>
              <a:t>http://www.dspia.com/gtkwave.exe.gz</a:t>
            </a:r>
            <a:r>
              <a:rPr lang="en-US" altLang="zh-CN" sz="1100" dirty="0"/>
              <a:t> (</a:t>
            </a:r>
            <a:r>
              <a:rPr lang="zh-CN" altLang="en-US" sz="1100" dirty="0"/>
              <a:t>貌似</a:t>
            </a:r>
            <a:r>
              <a:rPr lang="en-US" altLang="zh-CN" sz="1100" dirty="0" err="1"/>
              <a:t>iverilog</a:t>
            </a:r>
            <a:r>
              <a:rPr lang="zh-CN" altLang="en-US" sz="1100" dirty="0"/>
              <a:t>中自带</a:t>
            </a:r>
            <a:r>
              <a:rPr lang="en-US" altLang="zh-CN" sz="1100" dirty="0" err="1"/>
              <a:t>gtkwave</a:t>
            </a:r>
            <a:r>
              <a:rPr lang="en-US" altLang="zh-CN" sz="1100" dirty="0"/>
              <a:t>)</a:t>
            </a:r>
          </a:p>
          <a:p>
            <a:r>
              <a:rPr lang="zh-CN" altLang="en-US" sz="1200" dirty="0"/>
              <a:t>添加到系统的环境变量</a:t>
            </a:r>
            <a:r>
              <a:rPr lang="en-US" altLang="zh-CN" sz="1200" dirty="0"/>
              <a:t>Path</a:t>
            </a:r>
          </a:p>
          <a:p>
            <a:pPr lvl="1"/>
            <a:r>
              <a:rPr lang="en-US" altLang="zh-CN" sz="1000" dirty="0"/>
              <a:t>C:\tools\Python310</a:t>
            </a:r>
          </a:p>
          <a:p>
            <a:pPr lvl="1"/>
            <a:r>
              <a:rPr lang="en-US" altLang="zh-CN" sz="1000" dirty="0"/>
              <a:t>C:\tools\iverilog\bin</a:t>
            </a:r>
          </a:p>
          <a:p>
            <a:pPr lvl="1"/>
            <a:r>
              <a:rPr lang="nl-NL" altLang="zh-CN" sz="1000" dirty="0"/>
              <a:t>C:\tools\iverilog\gtkwave\bin</a:t>
            </a:r>
            <a:endParaRPr lang="en-US" altLang="zh-CN" sz="1000" dirty="0"/>
          </a:p>
          <a:p>
            <a:r>
              <a:rPr lang="zh-CN" altLang="en-US" sz="1200" dirty="0"/>
              <a:t>测试</a:t>
            </a:r>
            <a:r>
              <a:rPr lang="en-US" altLang="zh-CN" sz="1200" dirty="0" err="1"/>
              <a:t>cocotb</a:t>
            </a:r>
            <a:r>
              <a:rPr lang="zh-CN" altLang="en-US" sz="1200" dirty="0"/>
              <a:t>和</a:t>
            </a:r>
            <a:r>
              <a:rPr lang="en-US" altLang="zh-CN" sz="1200" dirty="0" err="1"/>
              <a:t>iverilog</a:t>
            </a:r>
            <a:r>
              <a:rPr lang="zh-CN" altLang="en-US" sz="1200" dirty="0"/>
              <a:t>是否安装成功</a:t>
            </a:r>
            <a:endParaRPr lang="en-US" altLang="zh-CN" sz="1200" dirty="0"/>
          </a:p>
          <a:p>
            <a:pPr lvl="1"/>
            <a:r>
              <a:rPr lang="en-US" altLang="zh-CN" sz="1000" dirty="0">
                <a:hlinkClick r:id="rId2"/>
              </a:rPr>
              <a:t>pip install </a:t>
            </a:r>
            <a:r>
              <a:rPr lang="en-US" altLang="zh-CN" sz="1000" dirty="0" err="1">
                <a:hlinkClick r:id="rId2"/>
              </a:rPr>
              <a:t>cocotb</a:t>
            </a:r>
            <a:r>
              <a:rPr lang="en-US" altLang="zh-CN" sz="1000" dirty="0">
                <a:hlinkClick r:id="rId2"/>
              </a:rPr>
              <a:t> </a:t>
            </a:r>
            <a:r>
              <a:rPr lang="en-US" altLang="zh-CN" sz="1000" dirty="0" err="1">
                <a:hlinkClick r:id="rId2"/>
              </a:rPr>
              <a:t>scipy</a:t>
            </a:r>
            <a:r>
              <a:rPr lang="en-US" altLang="zh-CN" sz="1000" dirty="0">
                <a:hlinkClick r:id="rId2"/>
              </a:rPr>
              <a:t> </a:t>
            </a:r>
            <a:r>
              <a:rPr lang="en-US" altLang="zh-CN" sz="1000" dirty="0" err="1">
                <a:hlinkClick r:id="rId2"/>
              </a:rPr>
              <a:t>numpy</a:t>
            </a:r>
            <a:r>
              <a:rPr lang="en-US" altLang="zh-CN" sz="1000" dirty="0">
                <a:hlinkClick r:id="rId2"/>
              </a:rPr>
              <a:t> matplotlib </a:t>
            </a:r>
            <a:r>
              <a:rPr lang="en-US" altLang="zh-CN" sz="1000" dirty="0" err="1">
                <a:hlinkClick r:id="rId2"/>
              </a:rPr>
              <a:t>pytest</a:t>
            </a:r>
            <a:r>
              <a:rPr lang="en-US" altLang="zh-CN" sz="1000" dirty="0">
                <a:hlinkClick r:id="rId2"/>
              </a:rPr>
              <a:t> </a:t>
            </a:r>
            <a:r>
              <a:rPr lang="zh-CN" altLang="en-US" sz="1000" dirty="0">
                <a:hlinkClick r:id="rId2"/>
              </a:rPr>
              <a:t>等</a:t>
            </a:r>
            <a:r>
              <a:rPr lang="en-US" altLang="zh-CN" sz="1000" dirty="0">
                <a:hlinkClick r:id="rId2"/>
              </a:rPr>
              <a:t>(</a:t>
            </a:r>
            <a:r>
              <a:rPr lang="zh-CN" altLang="en-US" sz="1000" dirty="0">
                <a:hlinkClick r:id="rId2"/>
              </a:rPr>
              <a:t>报缺什么库就安装什么库</a:t>
            </a:r>
            <a:r>
              <a:rPr lang="en-US" altLang="zh-CN" sz="1000" dirty="0">
                <a:hlinkClick r:id="rId2"/>
              </a:rPr>
              <a:t>)</a:t>
            </a:r>
          </a:p>
          <a:p>
            <a:pPr lvl="1"/>
            <a:endParaRPr lang="en-US" altLang="zh-CN" sz="1000" dirty="0"/>
          </a:p>
          <a:p>
            <a:pPr lvl="1"/>
            <a:r>
              <a:rPr lang="en-US" altLang="zh-CN" sz="1000" dirty="0"/>
              <a:t>cd c:\github\projects\</a:t>
            </a:r>
          </a:p>
          <a:p>
            <a:pPr lvl="1"/>
            <a:r>
              <a:rPr lang="en-US" altLang="zh-CN" sz="1000" dirty="0"/>
              <a:t>git clone </a:t>
            </a:r>
            <a:r>
              <a:rPr lang="en-US" altLang="zh-CN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https://github.com/cocotb/cocotb.git</a:t>
            </a:r>
            <a:r>
              <a:rPr lang="en-US" altLang="zh-CN" sz="1000" dirty="0"/>
              <a:t> </a:t>
            </a:r>
          </a:p>
          <a:p>
            <a:pPr lvl="1"/>
            <a:r>
              <a:rPr lang="en-US" altLang="zh-CN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cd </a:t>
            </a:r>
            <a:r>
              <a:rPr lang="en-US" altLang="zh-CN" sz="10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cocotb</a:t>
            </a:r>
            <a:r>
              <a:rPr lang="en-US" altLang="zh-CN" sz="1000" dirty="0"/>
              <a:t>/examples/adder/tests</a:t>
            </a:r>
          </a:p>
          <a:p>
            <a:pPr lvl="1"/>
            <a:r>
              <a:rPr lang="en-US" altLang="zh-CN" sz="1000" dirty="0"/>
              <a:t>python test_adder.py</a:t>
            </a:r>
          </a:p>
          <a:p>
            <a:pPr lvl="1"/>
            <a:r>
              <a:rPr lang="zh-CN" altLang="en-US" sz="1000" dirty="0"/>
              <a:t>右图执行成功。</a:t>
            </a:r>
            <a:endParaRPr lang="en-US" altLang="zh-CN" sz="1000" dirty="0"/>
          </a:p>
          <a:p>
            <a:endParaRPr lang="en-US" altLang="zh-CN" sz="1200" dirty="0"/>
          </a:p>
          <a:p>
            <a:r>
              <a:rPr lang="zh-CN" altLang="en-US" sz="1200" dirty="0"/>
              <a:t>测试</a:t>
            </a:r>
            <a:r>
              <a:rPr lang="en-US" altLang="zh-CN" sz="1200" dirty="0"/>
              <a:t>fir</a:t>
            </a:r>
          </a:p>
          <a:p>
            <a:pPr lvl="1"/>
            <a:r>
              <a:rPr lang="en-US" altLang="zh-CN" sz="1000" dirty="0"/>
              <a:t>cd c:\github\projects\fir</a:t>
            </a:r>
          </a:p>
          <a:p>
            <a:pPr lvl="1"/>
            <a:r>
              <a:rPr lang="en-US" altLang="zh-CN" sz="1000" dirty="0"/>
              <a:t>python test_fir.py</a:t>
            </a:r>
          </a:p>
          <a:p>
            <a:pPr lvl="2"/>
            <a:r>
              <a:rPr lang="zh-CN" altLang="en-US" sz="800" dirty="0"/>
              <a:t>仿真结束，在</a:t>
            </a:r>
            <a:r>
              <a:rPr lang="en-US" altLang="zh-CN" sz="800" dirty="0" err="1"/>
              <a:t>sim_build</a:t>
            </a:r>
            <a:r>
              <a:rPr lang="zh-CN" altLang="en-US" sz="800" dirty="0"/>
              <a:t>目录生成波形文件</a:t>
            </a:r>
            <a:r>
              <a:rPr lang="en-US" altLang="zh-CN" sz="800" dirty="0" err="1"/>
              <a:t>dump.vcd</a:t>
            </a:r>
            <a:endParaRPr lang="en-US" altLang="zh-CN" sz="800" dirty="0"/>
          </a:p>
          <a:p>
            <a:pPr lvl="2"/>
            <a:r>
              <a:rPr lang="en-US" altLang="zh-CN" sz="800" dirty="0"/>
              <a:t>cd</a:t>
            </a:r>
            <a:r>
              <a:rPr lang="zh-CN" altLang="en-US" sz="800" dirty="0"/>
              <a:t> </a:t>
            </a:r>
            <a:r>
              <a:rPr lang="en-US" altLang="zh-CN" sz="800" dirty="0"/>
              <a:t>c:\github\projects\fir\sim_build</a:t>
            </a:r>
          </a:p>
          <a:p>
            <a:pPr lvl="2"/>
            <a:r>
              <a:rPr lang="en-US" altLang="zh-CN" sz="800" dirty="0" err="1"/>
              <a:t>gtkwave</a:t>
            </a:r>
            <a:endParaRPr lang="en-US" altLang="zh-CN" sz="800" dirty="0"/>
          </a:p>
          <a:p>
            <a:pPr lvl="2"/>
            <a:r>
              <a:rPr lang="en-US" altLang="zh-CN" sz="800" dirty="0"/>
              <a:t>File-&gt;Open New Table, </a:t>
            </a:r>
            <a:r>
              <a:rPr lang="zh-CN" altLang="en-US" sz="800" dirty="0"/>
              <a:t>选择</a:t>
            </a:r>
            <a:r>
              <a:rPr lang="en-US" altLang="zh-CN" sz="800" dirty="0" err="1"/>
              <a:t>sim_build</a:t>
            </a:r>
            <a:r>
              <a:rPr lang="en-US" altLang="zh-CN" sz="800" dirty="0"/>
              <a:t>/</a:t>
            </a:r>
            <a:r>
              <a:rPr lang="en-US" altLang="zh-CN" sz="800" dirty="0" err="1"/>
              <a:t>dump.vcd</a:t>
            </a:r>
            <a:r>
              <a:rPr lang="zh-CN" altLang="en-US" sz="800" dirty="0"/>
              <a:t>文件</a:t>
            </a:r>
            <a:endParaRPr lang="en-US" altLang="zh-CN" sz="800" dirty="0"/>
          </a:p>
          <a:p>
            <a:pPr lvl="2"/>
            <a:endParaRPr lang="en-US" altLang="zh-CN" sz="800" dirty="0"/>
          </a:p>
          <a:p>
            <a:pPr lvl="1"/>
            <a:endParaRPr lang="en-US" altLang="zh-CN" sz="1000" dirty="0"/>
          </a:p>
          <a:p>
            <a:endParaRPr lang="en-US" altLang="zh-CN" sz="12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78FDD3-8611-92B1-E64D-EED18B907A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4FED2CB-BABC-B873-5157-ACA9D7BE2A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0932" y="3573016"/>
            <a:ext cx="4824536" cy="204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117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47E4A-A24C-E4F4-A276-7EC4613E8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E566375-EFDD-DC01-C9C5-A40F8709E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58093"/>
            <a:ext cx="8229600" cy="444663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0F5EA4-DDBF-3E35-3306-3FD1673780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7269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EC395-82C7-01AA-7E90-B1D67CBB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8C0FBF5-7431-F15E-708F-633D709C6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4763" y="1196975"/>
            <a:ext cx="5394474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89BC05-0221-75FD-4A71-AC58517355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18643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英文学术报告范例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DC7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97268</TotalTime>
  <Words>238</Words>
  <Application>Microsoft Office PowerPoint</Application>
  <PresentationFormat>全屏显示(4:3)</PresentationFormat>
  <Paragraphs>33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Calibri</vt:lpstr>
      <vt:lpstr>Times New Roman</vt:lpstr>
      <vt:lpstr>Wingdings</vt:lpstr>
      <vt:lpstr>英文学术报告范例</vt:lpstr>
      <vt:lpstr>实验-使用cocotb仿真</vt:lpstr>
      <vt:lpstr>实验-使用cocotb仿真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</dc:title>
  <dc:creator>Administrator</dc:creator>
  <cp:lastModifiedBy>wenbo yin</cp:lastModifiedBy>
  <cp:revision>9509</cp:revision>
  <cp:lastPrinted>2024-09-13T14:20:38Z</cp:lastPrinted>
  <dcterms:created xsi:type="dcterms:W3CDTF">2014-09-16T00:06:32Z</dcterms:created>
  <dcterms:modified xsi:type="dcterms:W3CDTF">2025-11-13T10:28:04Z</dcterms:modified>
</cp:coreProperties>
</file>